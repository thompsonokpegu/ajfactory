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9"/>
    <p:sldId id="269"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0" d="100"/>
          <a:sy n="150" d="100"/>
        </p:scale>
        <p:origin x="47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 Id="rId20"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549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and thanks for being here. I'm AJ Thompson - I'm a backend developer and AI automation engineer, and I build these systems for real businesses every day. Here's my promise for the next two hours: total clarity before you spend a single naira. No hype, no pressure. You do not need to be a developer to do this work - but you do need an honest picture of what it takes, and that's exactly what you'll leave with. It's free, it's about two hours, and if you stay to the end I'll hand you three tools you keep. Let's get into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what I see all the time: most people jump into AI automation blind, and it costs them three ways. First, money - they pay for tools, courses and subscriptions before they even know there's a market for their work. Second, time - months learning tools that don't match what clients actually pay for. Third, motivation - they hit a wall and quit, because nobody gave them the full picture. Quick one: drop a 1 in the chat if you've already paid for a tool you ended up abandoning. … Right. That's exactly what today fixes - by the end you'll know if this is worth your time and money, and you won't get any surprise monthly bills.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how the next two hours run. Five quick sessions: what AI automation actually is, what you need to start, what it really costs, where the money is, and then a live readiness score for you personally. Along the way you'll use three tools, and you keep all three - the Tool Stack Guide in session two, the ROI Calculator in session three, and the Readiness Scorecard in session five. One rule - stay to the end. Let's start with the basics.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what is AI automation, really? It's connecting AI models to business workflows that trigger, process and act automatically - without anyone doing it by hand. Let me show you instead of telling you. [run the demo] Watch - a form comes in, and instantly the system replies on WhatsApp and logs the lead. Nobody touched it. That one workflow replaces a task a business would pay around one hundred and fifty thousand naira a month for. And there are three ways people sell this: as a freelancer, as an agency, or as a productised service - same skill, three business models.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 me show you what's realistic. These are example projects - the kind of work a capable beginner can land. A WhatsApp lead qualifier, around three hundred and fifty thousand naira. A booking automation on a two hundred thousand a month retainer. An AI sales chatbot, five hundred thousand plus. I'll be honest with you - I personally charge several times these numbers - but I'm deliberately showing you beginner-realistic figures. And here's the pattern that matters: the people winning are problem-first thinkers, not tool collectors. They find out what a business actually needs, then pick the tool - never the other way round.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what do you actually need? Two things matter more than any tool - logical thinking, and clear communication with clients. You do not need to be a coder. And you do not need a registered business - we build the WhatsApp bot in test mode, so CAC never blocks you. What you're looking at is the exact stack we use inside the Accelerator. You start on free tiers, then move onto your own self-hosted setup. Almost all of it is free - and I'll break down exactly what it costs, down to the last naira, in the very next session. Open the first tool now - the Tool Stack Guide. The link is in the chat. It's every tool we use, grouped by level, with the real costs and honest descriptions, plus recommended stacks for the most common client jobs. Have a look while I talk. The point isn't to memorise every tool - it's to see that the tools are not your barrier.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talk money honestly, because this is where people get scared. Your starting cost is basically zero a month. The tools run on free tiers, and the only recurring cost is one cheap domain - about a dollar for the first year on a dot site or dot online, or ten to fifteen for a dot com. There is exactly one exception, and I'll be straight with you: Google now asks for a one-time thirty dollar prepayment, about forty-five thousand naira, before it will run your free Cloud server. A Naira card works - you do not need an international card. If you would rather not, a small paid host is about ten dollars a month for roughly three months instead. Either way that is the only hosting cost in this whole thing - and now you know about it before you spend a naira. Now, how you actually get paid. Three models. Project-based - a hundred to five hundred thousand naira for a one-off build. Fast cash, but no stability month to month. Retainer - eighty to two hundred thousand a month. Recurring, and it's the best structure for long-term income. And revenue share, a percentage of results - high risk, high reward, only when you know the niche and the ROI is obvious to the client. Let's make this real. Open the ROI Calculator - link's in the chat now. Put in your own numbers: what you'd charge, how many clients, your costs. It gives you your break-even month and a twelve-month projection built from your inputs, not mine. And look at the maths - one hundred and fifty thousand naira project pays back a whole year of running costs many times over. The tools aren't the investment. Your skill is.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Where's the work? The five biggest use cases right now are lead generation, customer support, operations, content pipelines, and client onboarding. And the industries spending money today are healthcare, fintech, e-commerce, real estate, and logistics. Quick question for you - which of these do you already know someone in? Start there. Your fastest first client is almost always someone in a world you already understand.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Okay - this part is about you. We're going to use the Readiness Scorecard live. Five dimensions: skills, time, setup, mindset, and market. Score yourself honestly as we go, and put your number in the chat. Here's what it means: seventy to a hundred, you're ready to start. Forty-five to sixty-nine, you're almost there - your gaps are fixable in a few weeks. Zero to forty-four, not yet - build the foundation first and come back. One thing on setup: if you can cover neither the one-time thirty dollar Google Cloud prepayment nor the small paid host instead, that alone holds you at almost-ready, because you cannot stand up your own stack yet. Remember your number. Your bucket is your path.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you lock that number in, four things it won't tell you. First - your lowest bar wins. Your bottleneck is your weakest dimension, not your average. A seventy with one broken dimension isn't really a seventy, so go fix that one. Second - setup is the only actual wall. Everything else is a slope you can climb, but if you can cover neither the one-time thirty dollar Google Cloud prepayment nor the small paid host, you cannot stand up your own stack - and that alone keeps you at almost-ready. Third - time and mindset are the two things nobody can give you. I can teach you the skills. I can hand you the outreach scripts. I can't give you five to eight hours a week, or the patience to debug at eleven at night. And fourth - not yet is a sequence, not a verdict on you. Close the gaps in the order that actually blocks you, then come back and retake it. Three months genuinely moves that number.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 promised - the three tools you used today, and they're yours to keep. The Tool Stack Guide from session two: every tool, grouped by level, with the real costs. The ROI Calculator we filled in together in session three - your break-even and your twelve-month projection. And the Readiness Scorecard you just scored in session five, with your verdict and your action plan. You're already on my list, so there's nothing to sign up for - I'm dropping all three links straight into the chat right now. Grab them. Then let's talk about what comes next.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 what comes next? It depends on the number you scored. If you landed seventy or above, you're ready, and your next step is the AI Automation Accelerator. If you're almost ready, join the waitlist, keep today's tools, and come in on the next cohort. And if you'd rather we just build it for you, that's the done-for-you path. But for most of you, the answer is the Accelerator - so let me show you exactly what that is.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slide to slow down on. The Accelerator is eight weeks. Nine modules, nine production automations, and you build every one of them yourself - you do not watch me build them. Ship-to-unlock means a module stays locked until you submit working proof of the last one and I approve it, which is why people actually finish. Weekly live Build and Debug clinics, and daily support in Telegram for when something breaks at eleven at night. On price: it is one hundred and twenty thousand naira to pay in full, or sixty-four thousand twice if you need to split it. But for everyone on this call right now, the code TAAB100 brings the pay-in-full price down to one hundred thousand naira. That is the attendee rate, and it is why I asked you to stay to the end. Finish every module and you get a certificate of completion carrying a code anyone can verify on the site. The enrolment link is in the chat now. If you are unsure whether this is for you, that is exactly what the next section is for.</a:t>
            </a:r>
          </a:p>
        </p:txBody>
      </p:sp>
      <p:sp>
        <p:nvSpPr>
          <p:cNvPr id="4" name="Slide Number Placeholder 3"/>
          <p:cNvSpPr>
            <a:spLocks noGrp="1"/>
          </p:cNvSpPr>
          <p:nvPr>
            <p:ph type="sldNum" sz="quarter" idx="10"/>
          </p:nvPr>
        </p:nvSpPr>
        <p:spPr/>
        <p:txBody>
          <a:bodyPr/>
          <a:lstStyle/>
          <a:p>
            <a:fld id="{3B1C8D24-5F6A-4E71-9C02-7AD4E8B16F39}" type="slidenum">
              <a:rPr lang="en-US"/>
              <a:t>13</a:t>
            </a:fld>
            <a:endParaRPr lang="en-US"/>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That's everything I promised you. Now it's your turn - drop your questions in the chat and I'll stay until they're answered. While you're typing: all three tool links are in the chat, and the Accelerator link is on the screen. Ask me anything - the pricing, the hosting cost, whether you personally are ready. I'd genuinely rather you leave here with a straight answer than a maybe.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C14"/>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C8F064"/>
          </a:solidFill>
          <a:ln w="12700">
            <a:solidFill>
              <a:srgbClr val="C8F064"/>
            </a:solidFill>
            <a:prstDash val="solid"/>
          </a:ln>
        </p:spPr>
        <p:txBody>
          <a:bodyPr/>
          <a:p/>
        </p:txBody>
      </p:sp>
      <p:sp>
        <p:nvSpPr>
          <p:cNvPr id="3" name="Text 1"/>
          <p:cNvSpPr/>
          <p:nvPr/>
        </p:nvSpPr>
        <p:spPr>
          <a:xfrm>
            <a:off x="438912" y="502920"/>
            <a:ext cx="6400800" cy="1828800"/>
          </a:xfrm>
          <a:prstGeom prst="rect">
            <a:avLst/>
          </a:prstGeom>
          <a:noFill/>
          <a:ln/>
        </p:spPr>
        <p:txBody>
          <a:bodyPr wrap="square" rtlCol="0" anchor="ctr"/>
          <a:lstStyle/>
          <a:p>
            <a:pPr marL="0" indent="0">
              <a:buNone/>
            </a:pPr>
            <a:r>
              <a:rPr lang="en-US" sz="11000" b="1" dirty="0">
                <a:solidFill>
                  <a:srgbClr val="C8F064"/>
                </a:solidFill>
                <a:latin typeface="Trebuchet MS" pitchFamily="34" charset="0"/>
                <a:ea typeface="Trebuchet MS" pitchFamily="34" charset="-122"/>
                <a:cs typeface="Trebuchet MS" pitchFamily="34" charset="-120"/>
              </a:rPr>
              <a:t>TAAB</a:t>
            </a:r>
            <a:endParaRPr lang="en-US" sz="11000" dirty="0"/>
          </a:p>
        </p:txBody>
      </p:sp>
      <p:sp>
        <p:nvSpPr>
          <p:cNvPr id="4" name="Text 2"/>
          <p:cNvSpPr/>
          <p:nvPr/>
        </p:nvSpPr>
        <p:spPr>
          <a:xfrm>
            <a:off x="438912" y="2212848"/>
            <a:ext cx="6858000" cy="566928"/>
          </a:xfrm>
          <a:prstGeom prst="rect">
            <a:avLst/>
          </a:prstGeom>
          <a:noFill/>
          <a:ln/>
        </p:spPr>
        <p:txBody>
          <a:bodyPr wrap="square" rtlCol="0" anchor="ctr"/>
          <a:lstStyle/>
          <a:p>
            <a:pPr marL="0" indent="0">
              <a:buNone/>
            </a:pPr>
            <a:r>
              <a:rPr lang="en-US" sz="2200" dirty="0">
                <a:solidFill>
                  <a:srgbClr val="FFFFFF"/>
                </a:solidFill>
                <a:latin typeface="Trebuchet MS" pitchFamily="34" charset="0"/>
                <a:ea typeface="Trebuchet MS" pitchFamily="34" charset="-122"/>
                <a:cs typeface="Trebuchet MS" pitchFamily="34" charset="-120"/>
              </a:rPr>
              <a:t>The AI Automation Bootcamp</a:t>
            </a:r>
            <a:endParaRPr lang="en-US" sz="2200" dirty="0"/>
          </a:p>
        </p:txBody>
      </p:sp>
      <p:sp>
        <p:nvSpPr>
          <p:cNvPr id="5" name="Text 3"/>
          <p:cNvSpPr/>
          <p:nvPr/>
        </p:nvSpPr>
        <p:spPr>
          <a:xfrm>
            <a:off x="438912" y="2743200"/>
            <a:ext cx="6400800" cy="402336"/>
          </a:xfrm>
          <a:prstGeom prst="rect">
            <a:avLst/>
          </a:prstGeom>
          <a:noFill/>
          <a:ln/>
        </p:spPr>
        <p:txBody>
          <a:bodyPr wrap="square" rtlCol="0" anchor="ctr"/>
          <a:lstStyle/>
          <a:p>
            <a:pPr marL="0" indent="0">
              <a:buNone/>
            </a:pPr>
            <a:r>
              <a:rPr lang="en-US" sz="1500" i="1" dirty="0">
                <a:solidFill>
                  <a:srgbClr val="8A8AA8"/>
                </a:solidFill>
                <a:latin typeface="Calibri" pitchFamily="34" charset="0"/>
                <a:ea typeface="Calibri" pitchFamily="34" charset="-122"/>
                <a:cs typeface="Calibri" pitchFamily="34" charset="-120"/>
              </a:rPr>
              <a:t>Clarity before you commit.</a:t>
            </a:r>
            <a:endParaRPr lang="en-US" sz="1500" dirty="0"/>
          </a:p>
        </p:txBody>
      </p:sp>
      <p:sp>
        <p:nvSpPr>
          <p:cNvPr id="6" name="Shape 4"/>
          <p:cNvSpPr/>
          <p:nvPr/>
        </p:nvSpPr>
        <p:spPr>
          <a:xfrm>
            <a:off x="438912" y="3246120"/>
            <a:ext cx="6217920" cy="0"/>
          </a:xfrm>
          <a:prstGeom prst="line">
            <a:avLst/>
          </a:prstGeom>
          <a:noFill/>
          <a:ln w="12700">
            <a:solidFill>
              <a:srgbClr val="262640"/>
            </a:solidFill>
            <a:prstDash val="solid"/>
          </a:ln>
        </p:spPr>
        <p:txBody>
          <a:bodyPr/>
          <a:p/>
        </p:txBody>
      </p:sp>
      <p:sp>
        <p:nvSpPr>
          <p:cNvPr id="7" name="Text 5"/>
          <p:cNvSpPr/>
          <p:nvPr/>
        </p:nvSpPr>
        <p:spPr>
          <a:xfrm>
            <a:off x="438912" y="3401568"/>
            <a:ext cx="6400800" cy="329184"/>
          </a:xfrm>
          <a:prstGeom prst="rect">
            <a:avLst/>
          </a:prstGeom>
          <a:noFill/>
          <a:ln/>
        </p:spPr>
        <p:txBody>
          <a:bodyPr wrap="square" rtlCol="0" anchor="ctr"/>
          <a:lstStyle/>
          <a:p>
            <a:pPr marL="0" indent="0">
              <a:buNone/>
            </a:pPr>
            <a:r>
              <a:rPr lang="en-US" sz="1100" dirty="0">
                <a:solidFill>
                  <a:srgbClr val="8A8AA8"/>
                </a:solidFill>
                <a:latin typeface="Calibri" pitchFamily="34" charset="0"/>
                <a:ea typeface="Calibri" pitchFamily="34" charset="-122"/>
                <a:cs typeface="Calibri" pitchFamily="34" charset="-120"/>
              </a:rPr>
              <a:t>Free 2-Hour Live Session · Google Meet · AJ Thompson · AJBuilds AI · Sat 31 October · 9-11 AM WAT</a:t>
            </a:r>
            <a:endParaRPr lang="en-US" sz="1100" dirty="0"/>
          </a:p>
        </p:txBody>
      </p:sp>
      <p:sp>
        <p:nvSpPr>
          <p:cNvPr id="8" name="Shape 6"/>
          <p:cNvSpPr/>
          <p:nvPr/>
        </p:nvSpPr>
        <p:spPr>
          <a:xfrm>
            <a:off x="7223760" y="274320"/>
            <a:ext cx="1371600" cy="1371600"/>
          </a:xfrm>
          <a:prstGeom prst="ellipse">
            <a:avLst/>
          </a:prstGeom>
          <a:solidFill>
            <a:srgbClr val="C8F064">
              <a:alpha val="12000"/>
            </a:srgbClr>
          </a:solidFill>
          <a:ln w="19050">
            <a:solidFill>
              <a:srgbClr val="C8F064"/>
            </a:solidFill>
            <a:prstDash val="solid"/>
          </a:ln>
        </p:spPr>
        <p:txBody>
          <a:bodyPr/>
          <a:p/>
        </p:txBody>
      </p:sp>
      <p:sp>
        <p:nvSpPr>
          <p:cNvPr id="9" name="Shape 7"/>
          <p:cNvSpPr/>
          <p:nvPr/>
        </p:nvSpPr>
        <p:spPr>
          <a:xfrm>
            <a:off x="7818120" y="1280160"/>
            <a:ext cx="1920240" cy="1920240"/>
          </a:xfrm>
          <a:prstGeom prst="ellipse">
            <a:avLst/>
          </a:prstGeom>
          <a:solidFill>
            <a:srgbClr val="7C5CFC">
              <a:alpha val="8000"/>
            </a:srgbClr>
          </a:solidFill>
          <a:ln w="19050">
            <a:solidFill>
              <a:srgbClr val="7C5CFC"/>
            </a:solidFill>
            <a:prstDash val="solid"/>
          </a:ln>
        </p:spPr>
        <p:txBody>
          <a:bodyPr/>
          <a:p/>
        </p:txBody>
      </p:sp>
      <p:sp>
        <p:nvSpPr>
          <p:cNvPr id="10" name="Shape 8"/>
          <p:cNvSpPr/>
          <p:nvPr/>
        </p:nvSpPr>
        <p:spPr>
          <a:xfrm>
            <a:off x="6949440" y="2880360"/>
            <a:ext cx="822960" cy="822960"/>
          </a:xfrm>
          <a:prstGeom prst="ellipse">
            <a:avLst/>
          </a:prstGeom>
          <a:solidFill>
            <a:srgbClr val="C8F064">
              <a:alpha val="35000"/>
            </a:srgbClr>
          </a:solidFill>
          <a:ln w="12700">
            <a:solidFill>
              <a:srgbClr val="C8F064"/>
            </a:solidFill>
            <a:prstDash val="solid"/>
          </a:ln>
        </p:spPr>
        <p:txBody>
          <a:bodyPr/>
          <a:p/>
        </p:txBody>
      </p:sp>
      <p:sp>
        <p:nvSpPr>
          <p:cNvPr id="11" name="Shape 9"/>
          <p:cNvSpPr/>
          <p:nvPr/>
        </p:nvSpPr>
        <p:spPr>
          <a:xfrm>
            <a:off x="8412480" y="3429000"/>
            <a:ext cx="548640" cy="548640"/>
          </a:xfrm>
          <a:prstGeom prst="ellipse">
            <a:avLst/>
          </a:prstGeom>
          <a:solidFill>
            <a:srgbClr val="7C5CFC">
              <a:alpha val="35000"/>
            </a:srgbClr>
          </a:solidFill>
          <a:ln w="12700">
            <a:solidFill>
              <a:srgbClr val="7C5CFC"/>
            </a:solidFill>
            <a:prstDash val="solid"/>
          </a:ln>
        </p:spPr>
        <p:txBody>
          <a:body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C14"/>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256032"/>
          </a:xfrm>
          <a:prstGeom prst="rect">
            <a:avLst/>
          </a:prstGeom>
          <a:noFill/>
          <a:ln/>
        </p:spPr>
        <p:txBody>
          <a:bodyPr wrap="square" rtlCol="0" anchor="ctr"/>
          <a:lstStyle/>
          <a:p>
            <a:pPr marL="0" indent="0">
              <a:buNone/>
            </a:pPr>
            <a:r>
              <a:rPr lang="en-US" sz="1000" b="1" kern="0" spc="500" dirty="0">
                <a:solidFill>
                  <a:srgbClr val="C8F064"/>
                </a:solidFill>
                <a:latin typeface="Trebuchet MS" pitchFamily="34" charset="0"/>
                <a:ea typeface="Trebuchet MS" pitchFamily="34" charset="-122"/>
                <a:cs typeface="Trebuchet MS" pitchFamily="34" charset="-120"/>
              </a:rPr>
              <a:t>THE PROBLEM</a:t>
            </a:r>
            <a:endParaRPr lang="en-US" sz="1000" dirty="0"/>
          </a:p>
        </p:txBody>
      </p:sp>
      <p:sp>
        <p:nvSpPr>
          <p:cNvPr id="3" name="Text 1"/>
          <p:cNvSpPr/>
          <p:nvPr/>
        </p:nvSpPr>
        <p:spPr>
          <a:xfrm>
            <a:off x="457200" y="566928"/>
            <a:ext cx="8229600" cy="777240"/>
          </a:xfrm>
          <a:prstGeom prst="rect">
            <a:avLst/>
          </a:prstGeom>
          <a:noFill/>
          <a:ln/>
        </p:spPr>
        <p:txBody>
          <a:bodyPr wrap="square" rtlCol="0" anchor="ctr"/>
          <a:lstStyle/>
          <a:p>
            <a:pPr marL="0" indent="0">
              <a:buNone/>
            </a:pPr>
            <a:r>
              <a:rPr lang="en-US" sz="3400" b="1" dirty="0">
                <a:solidFill>
                  <a:srgbClr val="FFFFFF"/>
                </a:solidFill>
                <a:latin typeface="Trebuchet MS" pitchFamily="34" charset="0"/>
                <a:ea typeface="Trebuchet MS" pitchFamily="34" charset="-122"/>
                <a:cs typeface="Trebuchet MS" pitchFamily="34" charset="-120"/>
              </a:rPr>
              <a:t>Most people jump in blind.</a:t>
            </a:r>
            <a:endParaRPr lang="en-US" sz="3400" dirty="0"/>
          </a:p>
        </p:txBody>
      </p:sp>
      <p:sp>
        <p:nvSpPr>
          <p:cNvPr id="4" name="Shape 2"/>
          <p:cNvSpPr/>
          <p:nvPr/>
        </p:nvSpPr>
        <p:spPr>
          <a:xfrm>
            <a:off x="411480" y="1554480"/>
            <a:ext cx="4069080" cy="1371600"/>
          </a:xfrm>
          <a:prstGeom prst="rect">
            <a:avLst/>
          </a:prstGeom>
          <a:solidFill>
            <a:srgbClr val="16162A"/>
          </a:solidFill>
          <a:ln w="10160">
            <a:solidFill>
              <a:srgbClr val="252545"/>
            </a:solidFill>
            <a:prstDash val="solid"/>
          </a:ln>
        </p:spPr>
      </p:sp>
      <p:sp>
        <p:nvSpPr>
          <p:cNvPr id="5" name="Text 3"/>
          <p:cNvSpPr/>
          <p:nvPr/>
        </p:nvSpPr>
        <p:spPr>
          <a:xfrm>
            <a:off x="557784" y="1682496"/>
            <a:ext cx="320040" cy="320040"/>
          </a:xfrm>
          <a:prstGeom prst="rect">
            <a:avLst/>
          </a:prstGeom>
          <a:noFill/>
          <a:ln/>
        </p:spPr>
        <p:txBody>
          <a:bodyPr wrap="square" rtlCol="0" anchor="ctr"/>
          <a:lstStyle/>
          <a:p>
            <a:pPr marL="0" indent="0">
              <a:buNone/>
            </a:pPr>
            <a:r>
              <a:rPr lang="en-US" sz="1500" b="1" dirty="0">
                <a:solidFill>
                  <a:srgbClr val="D04040"/>
                </a:solidFill>
                <a:latin typeface="Calibri" pitchFamily="34" charset="0"/>
                <a:ea typeface="Calibri" pitchFamily="34" charset="-122"/>
                <a:cs typeface="Calibri" pitchFamily="34" charset="-120"/>
              </a:rPr>
              <a:t>✗</a:t>
            </a:r>
            <a:endParaRPr lang="en-US" sz="1500" dirty="0"/>
          </a:p>
        </p:txBody>
      </p:sp>
      <p:sp>
        <p:nvSpPr>
          <p:cNvPr id="6" name="Text 4"/>
          <p:cNvSpPr/>
          <p:nvPr/>
        </p:nvSpPr>
        <p:spPr>
          <a:xfrm>
            <a:off x="960120" y="1673352"/>
            <a:ext cx="3383280" cy="329184"/>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They lose money</a:t>
            </a:r>
            <a:endParaRPr lang="en-US" sz="1300" dirty="0"/>
          </a:p>
        </p:txBody>
      </p:sp>
      <p:sp>
        <p:nvSpPr>
          <p:cNvPr id="7" name="Text 5"/>
          <p:cNvSpPr/>
          <p:nvPr/>
        </p:nvSpPr>
        <p:spPr>
          <a:xfrm>
            <a:off x="557784" y="2057400"/>
            <a:ext cx="3767328" cy="777240"/>
          </a:xfrm>
          <a:prstGeom prst="rect">
            <a:avLst/>
          </a:prstGeom>
          <a:noFill/>
          <a:ln/>
        </p:spPr>
        <p:txBody>
          <a:bodyPr wrap="square" rtlCol="0" anchor="ctr"/>
          <a:lstStyle/>
          <a:p>
            <a:pPr marL="0" indent="0">
              <a:buNone/>
            </a:pPr>
            <a:r>
              <a:rPr lang="en-US" sz="1100" dirty="0">
                <a:solidFill>
                  <a:srgbClr val="8A8AA8"/>
                </a:solidFill>
                <a:latin typeface="Calibri" pitchFamily="34" charset="0"/>
                <a:ea typeface="Calibri" pitchFamily="34" charset="-122"/>
                <a:cs typeface="Calibri" pitchFamily="34" charset="-120"/>
              </a:rPr>
              <a:t>Paying for tools, courses, and subscriptions before understanding if there is a real market for their work.</a:t>
            </a:r>
            <a:endParaRPr lang="en-US" sz="1100" dirty="0"/>
          </a:p>
        </p:txBody>
      </p:sp>
      <p:sp>
        <p:nvSpPr>
          <p:cNvPr id="8" name="Shape 6"/>
          <p:cNvSpPr/>
          <p:nvPr/>
        </p:nvSpPr>
        <p:spPr>
          <a:xfrm>
            <a:off x="4663440" y="1554480"/>
            <a:ext cx="4069080" cy="1371600"/>
          </a:xfrm>
          <a:prstGeom prst="rect">
            <a:avLst/>
          </a:prstGeom>
          <a:solidFill>
            <a:srgbClr val="16162A"/>
          </a:solidFill>
          <a:ln w="10160">
            <a:solidFill>
              <a:srgbClr val="252545"/>
            </a:solidFill>
            <a:prstDash val="solid"/>
          </a:ln>
        </p:spPr>
      </p:sp>
      <p:sp>
        <p:nvSpPr>
          <p:cNvPr id="9" name="Text 7"/>
          <p:cNvSpPr/>
          <p:nvPr/>
        </p:nvSpPr>
        <p:spPr>
          <a:xfrm>
            <a:off x="4809744" y="1682496"/>
            <a:ext cx="320040" cy="320040"/>
          </a:xfrm>
          <a:prstGeom prst="rect">
            <a:avLst/>
          </a:prstGeom>
          <a:noFill/>
          <a:ln/>
        </p:spPr>
        <p:txBody>
          <a:bodyPr wrap="square" rtlCol="0" anchor="ctr"/>
          <a:lstStyle/>
          <a:p>
            <a:pPr marL="0" indent="0">
              <a:buNone/>
            </a:pPr>
            <a:r>
              <a:rPr lang="en-US" sz="1500" b="1" dirty="0">
                <a:solidFill>
                  <a:srgbClr val="D04040"/>
                </a:solidFill>
                <a:latin typeface="Calibri" pitchFamily="34" charset="0"/>
                <a:ea typeface="Calibri" pitchFamily="34" charset="-122"/>
                <a:cs typeface="Calibri" pitchFamily="34" charset="-120"/>
              </a:rPr>
              <a:t>✗</a:t>
            </a:r>
            <a:endParaRPr lang="en-US" sz="1500" dirty="0"/>
          </a:p>
        </p:txBody>
      </p:sp>
      <p:sp>
        <p:nvSpPr>
          <p:cNvPr id="10" name="Text 8"/>
          <p:cNvSpPr/>
          <p:nvPr/>
        </p:nvSpPr>
        <p:spPr>
          <a:xfrm>
            <a:off x="5212080" y="1673352"/>
            <a:ext cx="3383280" cy="329184"/>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They waste time</a:t>
            </a:r>
            <a:endParaRPr lang="en-US" sz="1300" dirty="0"/>
          </a:p>
        </p:txBody>
      </p:sp>
      <p:sp>
        <p:nvSpPr>
          <p:cNvPr id="11" name="Text 9"/>
          <p:cNvSpPr/>
          <p:nvPr/>
        </p:nvSpPr>
        <p:spPr>
          <a:xfrm>
            <a:off x="4809744" y="2057400"/>
            <a:ext cx="3767328" cy="777240"/>
          </a:xfrm>
          <a:prstGeom prst="rect">
            <a:avLst/>
          </a:prstGeom>
          <a:noFill/>
          <a:ln/>
        </p:spPr>
        <p:txBody>
          <a:bodyPr wrap="square" rtlCol="0" anchor="ctr"/>
          <a:lstStyle/>
          <a:p>
            <a:pPr marL="0" indent="0">
              <a:buNone/>
            </a:pPr>
            <a:r>
              <a:rPr lang="en-US" sz="1100" dirty="0">
                <a:solidFill>
                  <a:srgbClr val="8A8AA8"/>
                </a:solidFill>
                <a:latin typeface="Calibri" pitchFamily="34" charset="0"/>
                <a:ea typeface="Calibri" pitchFamily="34" charset="-122"/>
                <a:cs typeface="Calibri" pitchFamily="34" charset="-120"/>
              </a:rPr>
              <a:t>Spending months learning tools that don't match the services clients actually pay for.</a:t>
            </a:r>
            <a:endParaRPr lang="en-US" sz="1100" dirty="0"/>
          </a:p>
        </p:txBody>
      </p:sp>
      <p:sp>
        <p:nvSpPr>
          <p:cNvPr id="12" name="Shape 10"/>
          <p:cNvSpPr/>
          <p:nvPr/>
        </p:nvSpPr>
        <p:spPr>
          <a:xfrm>
            <a:off x="411480" y="3063240"/>
            <a:ext cx="4069080" cy="1371600"/>
          </a:xfrm>
          <a:prstGeom prst="rect">
            <a:avLst/>
          </a:prstGeom>
          <a:solidFill>
            <a:srgbClr val="16162A"/>
          </a:solidFill>
          <a:ln w="10160">
            <a:solidFill>
              <a:srgbClr val="252545"/>
            </a:solidFill>
            <a:prstDash val="solid"/>
          </a:ln>
        </p:spPr>
      </p:sp>
      <p:sp>
        <p:nvSpPr>
          <p:cNvPr id="13" name="Text 11"/>
          <p:cNvSpPr/>
          <p:nvPr/>
        </p:nvSpPr>
        <p:spPr>
          <a:xfrm>
            <a:off x="557784" y="3191256"/>
            <a:ext cx="320040" cy="320040"/>
          </a:xfrm>
          <a:prstGeom prst="rect">
            <a:avLst/>
          </a:prstGeom>
          <a:noFill/>
          <a:ln/>
        </p:spPr>
        <p:txBody>
          <a:bodyPr wrap="square" rtlCol="0" anchor="ctr"/>
          <a:lstStyle/>
          <a:p>
            <a:pPr marL="0" indent="0">
              <a:buNone/>
            </a:pPr>
            <a:r>
              <a:rPr lang="en-US" sz="1500" b="1" dirty="0">
                <a:solidFill>
                  <a:srgbClr val="D04040"/>
                </a:solidFill>
                <a:latin typeface="Calibri" pitchFamily="34" charset="0"/>
                <a:ea typeface="Calibri" pitchFamily="34" charset="-122"/>
                <a:cs typeface="Calibri" pitchFamily="34" charset="-120"/>
              </a:rPr>
              <a:t>✗</a:t>
            </a:r>
            <a:endParaRPr lang="en-US" sz="1500" dirty="0"/>
          </a:p>
        </p:txBody>
      </p:sp>
      <p:sp>
        <p:nvSpPr>
          <p:cNvPr id="14" name="Text 12"/>
          <p:cNvSpPr/>
          <p:nvPr/>
        </p:nvSpPr>
        <p:spPr>
          <a:xfrm>
            <a:off x="960120" y="3182112"/>
            <a:ext cx="3383280" cy="329184"/>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They lose motivation</a:t>
            </a:r>
            <a:endParaRPr lang="en-US" sz="1300" dirty="0"/>
          </a:p>
        </p:txBody>
      </p:sp>
      <p:sp>
        <p:nvSpPr>
          <p:cNvPr id="15" name="Text 13"/>
          <p:cNvSpPr/>
          <p:nvPr/>
        </p:nvSpPr>
        <p:spPr>
          <a:xfrm>
            <a:off x="557784" y="3566160"/>
            <a:ext cx="3767328" cy="777240"/>
          </a:xfrm>
          <a:prstGeom prst="rect">
            <a:avLst/>
          </a:prstGeom>
          <a:noFill/>
          <a:ln/>
        </p:spPr>
        <p:txBody>
          <a:bodyPr wrap="square" rtlCol="0" anchor="ctr"/>
          <a:lstStyle/>
          <a:p>
            <a:pPr marL="0" indent="0">
              <a:buNone/>
            </a:pPr>
            <a:r>
              <a:rPr lang="en-US" sz="1100" dirty="0">
                <a:solidFill>
                  <a:srgbClr val="8A8AA8"/>
                </a:solidFill>
                <a:latin typeface="Calibri" pitchFamily="34" charset="0"/>
                <a:ea typeface="Calibri" pitchFamily="34" charset="-122"/>
                <a:cs typeface="Calibri" pitchFamily="34" charset="-120"/>
              </a:rPr>
              <a:t>Hitting technical, financial, and market walls without enough context to push through.</a:t>
            </a:r>
            <a:endParaRPr lang="en-US" sz="1100" dirty="0"/>
          </a:p>
        </p:txBody>
      </p:sp>
      <p:sp>
        <p:nvSpPr>
          <p:cNvPr id="16" name="Shape 14"/>
          <p:cNvSpPr/>
          <p:nvPr/>
        </p:nvSpPr>
        <p:spPr>
          <a:xfrm>
            <a:off x="4663440" y="3063240"/>
            <a:ext cx="4069080" cy="1371600"/>
          </a:xfrm>
          <a:prstGeom prst="rect">
            <a:avLst/>
          </a:prstGeom>
          <a:solidFill>
            <a:srgbClr val="131E08"/>
          </a:solidFill>
          <a:ln w="19050">
            <a:solidFill>
              <a:srgbClr val="C8F064"/>
            </a:solidFill>
            <a:prstDash val="solid"/>
          </a:ln>
        </p:spPr>
      </p:sp>
      <p:sp>
        <p:nvSpPr>
          <p:cNvPr id="17" name="Text 15"/>
          <p:cNvSpPr/>
          <p:nvPr/>
        </p:nvSpPr>
        <p:spPr>
          <a:xfrm>
            <a:off x="4809744" y="3191256"/>
            <a:ext cx="320040" cy="320040"/>
          </a:xfrm>
          <a:prstGeom prst="rect">
            <a:avLst/>
          </a:prstGeom>
          <a:noFill/>
          <a:ln/>
        </p:spPr>
        <p:txBody>
          <a:bodyPr wrap="square" rtlCol="0" anchor="ctr"/>
          <a:lstStyle/>
          <a:p>
            <a:pPr marL="0" indent="0">
              <a:buNone/>
            </a:pPr>
            <a:r>
              <a:rPr lang="en-US" sz="1500" b="1" dirty="0">
                <a:solidFill>
                  <a:srgbClr val="C8F064"/>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5212080" y="3182112"/>
            <a:ext cx="3383280" cy="329184"/>
          </a:xfrm>
          <a:prstGeom prst="rect">
            <a:avLst/>
          </a:prstGeom>
          <a:noFill/>
          <a:ln/>
        </p:spPr>
        <p:txBody>
          <a:bodyPr wrap="square" rtlCol="0" anchor="ctr"/>
          <a:lstStyle/>
          <a:p>
            <a:pPr marL="0" indent="0">
              <a:buNone/>
            </a:pPr>
            <a:r>
              <a:rPr lang="en-US" sz="1300" b="1" dirty="0">
                <a:solidFill>
                  <a:srgbClr val="C8F064"/>
                </a:solidFill>
                <a:latin typeface="Trebuchet MS" pitchFamily="34" charset="0"/>
                <a:ea typeface="Trebuchet MS" pitchFamily="34" charset="-122"/>
                <a:cs typeface="Trebuchet MS" pitchFamily="34" charset="-120"/>
              </a:rPr>
              <a:t>Today changes that</a:t>
            </a:r>
            <a:endParaRPr lang="en-US" sz="1300" dirty="0"/>
          </a:p>
        </p:txBody>
      </p:sp>
      <p:sp>
        <p:nvSpPr>
          <p:cNvPr id="19" name="Text 17"/>
          <p:cNvSpPr/>
          <p:nvPr/>
        </p:nvSpPr>
        <p:spPr>
          <a:xfrm>
            <a:off x="4809744" y="3566160"/>
            <a:ext cx="3767328" cy="777240"/>
          </a:xfrm>
          <a:prstGeom prst="rect">
            <a:avLst/>
          </a:prstGeom>
          <a:noFill/>
          <a:ln/>
        </p:spPr>
        <p:txBody>
          <a:bodyPr wrap="square" rtlCol="0" anchor="ctr"/>
          <a:lstStyle/>
          <a:p>
            <a:pPr marL="0" indent="0">
              <a:buNone/>
            </a:pPr>
            <a:r>
              <a:rPr lang="en-US" sz="1100" dirty="0">
                <a:solidFill>
                  <a:srgbClr val="8A8AA8"/>
                </a:solidFill>
                <a:latin typeface="Calibri" pitchFamily="34" charset="0"/>
                <a:ea typeface="Calibri" pitchFamily="34" charset="-122"/>
                <a:cs typeface="Calibri" pitchFamily="34" charset="-120"/>
              </a:rPr>
              <a:t>Leave this bootcamp knowing exactly whether AI automation is worth your time and money - right now.</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C8F064"/>
          </a:solidFill>
          <a:ln w="12700">
            <a:solidFill>
              <a:srgbClr val="C8F064"/>
            </a:solidFill>
            <a:prstDash val="solid"/>
          </a:ln>
        </p:spPr>
        <p:txBody>
          <a:bodyPr/>
          <a:p/>
        </p:txBody>
      </p:sp>
      <p:sp>
        <p:nvSpPr>
          <p:cNvPr id="3" name="Text 1"/>
          <p:cNvSpPr/>
          <p:nvPr/>
        </p:nvSpPr>
        <p:spPr>
          <a:xfrm>
            <a:off x="457200" y="274320"/>
            <a:ext cx="8229600" cy="256032"/>
          </a:xfrm>
          <a:prstGeom prst="rect">
            <a:avLst/>
          </a:prstGeom>
          <a:noFill/>
          <a:ln/>
        </p:spPr>
        <p:txBody>
          <a:bodyPr wrap="square" rtlCol="0" anchor="ctr"/>
          <a:lstStyle/>
          <a:p>
            <a:pPr marL="0" indent="0">
              <a:buNone/>
            </a:pPr>
            <a:r>
              <a:rPr lang="en-US" sz="1000" b="1" kern="0" spc="500" dirty="0">
                <a:solidFill>
                  <a:srgbClr val="6B6B82"/>
                </a:solidFill>
                <a:latin typeface="Trebuchet MS" pitchFamily="34" charset="0"/>
                <a:ea typeface="Trebuchet MS" pitchFamily="34" charset="-122"/>
                <a:cs typeface="Trebuchet MS" pitchFamily="34" charset="-120"/>
              </a:rPr>
              <a:t>WHAT WE COVER TODAY</a:t>
            </a:r>
            <a:endParaRPr lang="en-US" sz="1000" dirty="0"/>
          </a:p>
        </p:txBody>
      </p:sp>
      <p:sp>
        <p:nvSpPr>
          <p:cNvPr id="4" name="Text 2"/>
          <p:cNvSpPr/>
          <p:nvPr/>
        </p:nvSpPr>
        <p:spPr>
          <a:xfrm>
            <a:off x="411480" y="566928"/>
            <a:ext cx="5943600" cy="566928"/>
          </a:xfrm>
          <a:prstGeom prst="rect">
            <a:avLst/>
          </a:prstGeom>
          <a:noFill/>
          <a:ln/>
        </p:spPr>
        <p:txBody>
          <a:bodyPr wrap="square" rtlCol="0" anchor="ctr"/>
          <a:lstStyle/>
          <a:p>
            <a:pPr marL="0" indent="0">
              <a:buNone/>
            </a:pPr>
            <a:r>
              <a:rPr lang="en-US" sz="2600" b="1" dirty="0">
                <a:solidFill>
                  <a:srgbClr val="0C0C14"/>
                </a:solidFill>
                <a:latin typeface="Trebuchet MS" pitchFamily="34" charset="0"/>
                <a:ea typeface="Trebuchet MS" pitchFamily="34" charset="-122"/>
                <a:cs typeface="Trebuchet MS" pitchFamily="34" charset="-120"/>
              </a:rPr>
              <a:t>The full 2-hour session, laid out.</a:t>
            </a:r>
            <a:endParaRPr lang="en-US" sz="2600" dirty="0"/>
          </a:p>
        </p:txBody>
      </p:sp>
      <p:sp>
        <p:nvSpPr>
          <p:cNvPr id="5" name="Shape 3"/>
          <p:cNvSpPr/>
          <p:nvPr/>
        </p:nvSpPr>
        <p:spPr>
          <a:xfrm>
            <a:off x="411480" y="1298448"/>
            <a:ext cx="493776" cy="493776"/>
          </a:xfrm>
          <a:prstGeom prst="rect">
            <a:avLst/>
          </a:prstGeom>
          <a:solidFill>
            <a:srgbClr val="C8F064"/>
          </a:solidFill>
          <a:ln w="12700">
            <a:solidFill>
              <a:srgbClr val="C8F064"/>
            </a:solidFill>
            <a:prstDash val="solid"/>
          </a:ln>
        </p:spPr>
        <p:txBody>
          <a:bodyPr/>
          <a:p/>
        </p:txBody>
      </p:sp>
      <p:sp>
        <p:nvSpPr>
          <p:cNvPr id="6" name="Text 4"/>
          <p:cNvSpPr/>
          <p:nvPr/>
        </p:nvSpPr>
        <p:spPr>
          <a:xfrm>
            <a:off x="411480" y="1298448"/>
            <a:ext cx="493776" cy="493776"/>
          </a:xfrm>
          <a:prstGeom prst="rect">
            <a:avLst/>
          </a:prstGeom>
          <a:noFill/>
          <a:ln/>
        </p:spPr>
        <p:txBody>
          <a:bodyPr wrap="square" lIns="0" tIns="0" rIns="0" bIns="0" rtlCol="0" anchor="ctr"/>
          <a:lstStyle/>
          <a:p>
            <a:pPr marL="0" indent="0" algn="ctr">
              <a:buNone/>
            </a:pPr>
            <a:r>
              <a:rPr lang="en-US" sz="1400" b="1" dirty="0">
                <a:solidFill>
                  <a:srgbClr val="0C0C14"/>
                </a:solidFill>
                <a:latin typeface="Trebuchet MS" pitchFamily="34" charset="0"/>
                <a:ea typeface="Trebuchet MS" pitchFamily="34" charset="-122"/>
                <a:cs typeface="Trebuchet MS" pitchFamily="34" charset="-120"/>
              </a:rPr>
              <a:t>01</a:t>
            </a:r>
            <a:endParaRPr lang="en-US" sz="1400" dirty="0"/>
          </a:p>
        </p:txBody>
      </p:sp>
      <p:sp>
        <p:nvSpPr>
          <p:cNvPr id="7" name="Text 5"/>
          <p:cNvSpPr/>
          <p:nvPr/>
        </p:nvSpPr>
        <p:spPr>
          <a:xfrm>
            <a:off x="1024128" y="1316736"/>
            <a:ext cx="5029200" cy="274320"/>
          </a:xfrm>
          <a:prstGeom prst="rect">
            <a:avLst/>
          </a:prstGeom>
          <a:noFill/>
          <a:ln/>
        </p:spPr>
        <p:txBody>
          <a:bodyPr wrap="square" rtlCol="0" anchor="ctr"/>
          <a:lstStyle/>
          <a:p>
            <a:pPr marL="0" indent="0">
              <a:buNone/>
            </a:pPr>
            <a:r>
              <a:rPr lang="en-US" sz="1300" b="1" dirty="0">
                <a:solidFill>
                  <a:srgbClr val="0C0C14"/>
                </a:solidFill>
                <a:latin typeface="Trebuchet MS" pitchFamily="34" charset="0"/>
                <a:ea typeface="Trebuchet MS" pitchFamily="34" charset="-122"/>
                <a:cs typeface="Trebuchet MS" pitchFamily="34" charset="-120"/>
              </a:rPr>
              <a:t>What AI automation actually is</a:t>
            </a:r>
            <a:endParaRPr lang="en-US" sz="1300" dirty="0"/>
          </a:p>
        </p:txBody>
      </p:sp>
      <p:sp>
        <p:nvSpPr>
          <p:cNvPr id="8" name="Text 6"/>
          <p:cNvSpPr/>
          <p:nvPr/>
        </p:nvSpPr>
        <p:spPr>
          <a:xfrm>
            <a:off x="1024128" y="1591056"/>
            <a:ext cx="5029200" cy="201168"/>
          </a:xfrm>
          <a:prstGeom prst="rect">
            <a:avLst/>
          </a:prstGeom>
          <a:noFill/>
          <a:ln/>
        </p:spPr>
        <p:txBody>
          <a:bodyPr wrap="square" rtlCol="0" anchor="ctr"/>
          <a:lstStyle/>
          <a:p>
            <a:pPr marL="0" indent="0">
              <a:buNone/>
            </a:pPr>
            <a:r>
              <a:rPr lang="en-US" sz="1000" dirty="0">
                <a:solidFill>
                  <a:srgbClr val="6B6B82"/>
                </a:solidFill>
                <a:latin typeface="Calibri" pitchFamily="34" charset="0"/>
                <a:ea typeface="Calibri" pitchFamily="34" charset="-122"/>
                <a:cs typeface="Calibri" pitchFamily="34" charset="-120"/>
              </a:rPr>
              <a:t>Definition · Business models · Live demo</a:t>
            </a:r>
            <a:endParaRPr lang="en-US" sz="1000" dirty="0"/>
          </a:p>
        </p:txBody>
      </p:sp>
      <p:sp>
        <p:nvSpPr>
          <p:cNvPr id="9" name="Shape 7"/>
          <p:cNvSpPr/>
          <p:nvPr/>
        </p:nvSpPr>
        <p:spPr>
          <a:xfrm>
            <a:off x="411480" y="1901952"/>
            <a:ext cx="5943600" cy="0"/>
          </a:xfrm>
          <a:prstGeom prst="line">
            <a:avLst/>
          </a:prstGeom>
          <a:noFill/>
          <a:ln w="6350">
            <a:solidFill>
              <a:srgbClr val="E4E2F2"/>
            </a:solidFill>
            <a:prstDash val="solid"/>
          </a:ln>
        </p:spPr>
        <p:txBody>
          <a:bodyPr/>
          <a:p/>
        </p:txBody>
      </p:sp>
      <p:sp>
        <p:nvSpPr>
          <p:cNvPr id="10" name="Shape 8"/>
          <p:cNvSpPr/>
          <p:nvPr/>
        </p:nvSpPr>
        <p:spPr>
          <a:xfrm>
            <a:off x="411480" y="2002536"/>
            <a:ext cx="493776" cy="493776"/>
          </a:xfrm>
          <a:prstGeom prst="rect">
            <a:avLst/>
          </a:prstGeom>
          <a:solidFill>
            <a:srgbClr val="C8F064"/>
          </a:solidFill>
          <a:ln w="12700">
            <a:solidFill>
              <a:srgbClr val="C8F064"/>
            </a:solidFill>
            <a:prstDash val="solid"/>
          </a:ln>
        </p:spPr>
        <p:txBody>
          <a:bodyPr/>
          <a:p/>
        </p:txBody>
      </p:sp>
      <p:sp>
        <p:nvSpPr>
          <p:cNvPr id="11" name="Text 9"/>
          <p:cNvSpPr/>
          <p:nvPr/>
        </p:nvSpPr>
        <p:spPr>
          <a:xfrm>
            <a:off x="411480" y="2002536"/>
            <a:ext cx="493776" cy="493776"/>
          </a:xfrm>
          <a:prstGeom prst="rect">
            <a:avLst/>
          </a:prstGeom>
          <a:noFill/>
          <a:ln/>
        </p:spPr>
        <p:txBody>
          <a:bodyPr wrap="square" lIns="0" tIns="0" rIns="0" bIns="0" rtlCol="0" anchor="ctr"/>
          <a:lstStyle/>
          <a:p>
            <a:pPr marL="0" indent="0" algn="ctr">
              <a:buNone/>
            </a:pPr>
            <a:r>
              <a:rPr lang="en-US" sz="1400" b="1" dirty="0">
                <a:solidFill>
                  <a:srgbClr val="0C0C14"/>
                </a:solidFill>
                <a:latin typeface="Trebuchet MS" pitchFamily="34" charset="0"/>
                <a:ea typeface="Trebuchet MS" pitchFamily="34" charset="-122"/>
                <a:cs typeface="Trebuchet MS" pitchFamily="34" charset="-120"/>
              </a:rPr>
              <a:t>02</a:t>
            </a:r>
            <a:endParaRPr lang="en-US" sz="1400" dirty="0"/>
          </a:p>
        </p:txBody>
      </p:sp>
      <p:sp>
        <p:nvSpPr>
          <p:cNvPr id="12" name="Text 10"/>
          <p:cNvSpPr/>
          <p:nvPr/>
        </p:nvSpPr>
        <p:spPr>
          <a:xfrm>
            <a:off x="1024128" y="2020824"/>
            <a:ext cx="5029200" cy="274320"/>
          </a:xfrm>
          <a:prstGeom prst="rect">
            <a:avLst/>
          </a:prstGeom>
          <a:noFill/>
          <a:ln/>
        </p:spPr>
        <p:txBody>
          <a:bodyPr wrap="square" rtlCol="0" anchor="ctr"/>
          <a:lstStyle/>
          <a:p>
            <a:pPr marL="0" indent="0">
              <a:buNone/>
            </a:pPr>
            <a:r>
              <a:rPr lang="en-US" sz="1300" b="1" dirty="0">
                <a:solidFill>
                  <a:srgbClr val="0C0C14"/>
                </a:solidFill>
                <a:latin typeface="Trebuchet MS" pitchFamily="34" charset="0"/>
                <a:ea typeface="Trebuchet MS" pitchFamily="34" charset="-122"/>
                <a:cs typeface="Trebuchet MS" pitchFamily="34" charset="-120"/>
              </a:rPr>
              <a:t>Entry requirements &amp; the Accelerator stack</a:t>
            </a:r>
            <a:endParaRPr lang="en-US" sz="1300" dirty="0"/>
          </a:p>
        </p:txBody>
      </p:sp>
      <p:sp>
        <p:nvSpPr>
          <p:cNvPr id="13" name="Text 11"/>
          <p:cNvSpPr/>
          <p:nvPr/>
        </p:nvSpPr>
        <p:spPr>
          <a:xfrm>
            <a:off x="1024128" y="2295144"/>
            <a:ext cx="5029200" cy="201168"/>
          </a:xfrm>
          <a:prstGeom prst="rect">
            <a:avLst/>
          </a:prstGeom>
          <a:noFill/>
          <a:ln/>
        </p:spPr>
        <p:txBody>
          <a:bodyPr wrap="square" rtlCol="0" anchor="ctr"/>
          <a:lstStyle/>
          <a:p>
            <a:pPr marL="0" indent="0">
              <a:buNone/>
            </a:pPr>
            <a:r>
              <a:rPr lang="en-US" sz="1000" dirty="0">
                <a:solidFill>
                  <a:srgbClr val="6B6B82"/>
                </a:solidFill>
                <a:latin typeface="Calibri" pitchFamily="34" charset="0"/>
                <a:ea typeface="Calibri" pitchFamily="34" charset="-122"/>
                <a:cs typeface="Calibri" pitchFamily="34" charset="-120"/>
              </a:rPr>
              <a:t>Must-haves · The stack · Tool Stack Guide</a:t>
            </a:r>
            <a:endParaRPr lang="en-US" sz="1000" dirty="0"/>
          </a:p>
        </p:txBody>
      </p:sp>
      <p:sp>
        <p:nvSpPr>
          <p:cNvPr id="14" name="Shape 12"/>
          <p:cNvSpPr/>
          <p:nvPr/>
        </p:nvSpPr>
        <p:spPr>
          <a:xfrm>
            <a:off x="411480" y="2606040"/>
            <a:ext cx="5943600" cy="0"/>
          </a:xfrm>
          <a:prstGeom prst="line">
            <a:avLst/>
          </a:prstGeom>
          <a:noFill/>
          <a:ln w="6350">
            <a:solidFill>
              <a:srgbClr val="E4E2F2"/>
            </a:solidFill>
            <a:prstDash val="solid"/>
          </a:ln>
        </p:spPr>
        <p:txBody>
          <a:bodyPr/>
          <a:p/>
        </p:txBody>
      </p:sp>
      <p:sp>
        <p:nvSpPr>
          <p:cNvPr id="15" name="Shape 13"/>
          <p:cNvSpPr/>
          <p:nvPr/>
        </p:nvSpPr>
        <p:spPr>
          <a:xfrm>
            <a:off x="411480" y="2706624"/>
            <a:ext cx="493776" cy="493776"/>
          </a:xfrm>
          <a:prstGeom prst="rect">
            <a:avLst/>
          </a:prstGeom>
          <a:solidFill>
            <a:srgbClr val="C8F064"/>
          </a:solidFill>
          <a:ln w="12700">
            <a:solidFill>
              <a:srgbClr val="C8F064"/>
            </a:solidFill>
            <a:prstDash val="solid"/>
          </a:ln>
        </p:spPr>
        <p:txBody>
          <a:bodyPr/>
          <a:p/>
        </p:txBody>
      </p:sp>
      <p:sp>
        <p:nvSpPr>
          <p:cNvPr id="16" name="Text 14"/>
          <p:cNvSpPr/>
          <p:nvPr/>
        </p:nvSpPr>
        <p:spPr>
          <a:xfrm>
            <a:off x="411480" y="2706624"/>
            <a:ext cx="493776" cy="493776"/>
          </a:xfrm>
          <a:prstGeom prst="rect">
            <a:avLst/>
          </a:prstGeom>
          <a:noFill/>
          <a:ln/>
        </p:spPr>
        <p:txBody>
          <a:bodyPr wrap="square" lIns="0" tIns="0" rIns="0" bIns="0" rtlCol="0" anchor="ctr"/>
          <a:lstStyle/>
          <a:p>
            <a:pPr marL="0" indent="0" algn="ctr">
              <a:buNone/>
            </a:pPr>
            <a:r>
              <a:rPr lang="en-US" sz="1400" b="1" dirty="0">
                <a:solidFill>
                  <a:srgbClr val="0C0C14"/>
                </a:solidFill>
                <a:latin typeface="Trebuchet MS" pitchFamily="34" charset="0"/>
                <a:ea typeface="Trebuchet MS" pitchFamily="34" charset="-122"/>
                <a:cs typeface="Trebuchet MS" pitchFamily="34" charset="-120"/>
              </a:rPr>
              <a:t>03</a:t>
            </a:r>
            <a:endParaRPr lang="en-US" sz="1400" dirty="0"/>
          </a:p>
        </p:txBody>
      </p:sp>
      <p:sp>
        <p:nvSpPr>
          <p:cNvPr id="17" name="Text 15"/>
          <p:cNvSpPr/>
          <p:nvPr/>
        </p:nvSpPr>
        <p:spPr>
          <a:xfrm>
            <a:off x="1024128" y="2724912"/>
            <a:ext cx="5029200" cy="274320"/>
          </a:xfrm>
          <a:prstGeom prst="rect">
            <a:avLst/>
          </a:prstGeom>
          <a:noFill/>
          <a:ln/>
        </p:spPr>
        <p:txBody>
          <a:bodyPr wrap="square" rtlCol="0" anchor="ctr"/>
          <a:lstStyle/>
          <a:p>
            <a:pPr marL="0" indent="0">
              <a:buNone/>
            </a:pPr>
            <a:r>
              <a:rPr lang="en-US" sz="1300" b="1" dirty="0">
                <a:solidFill>
                  <a:srgbClr val="0C0C14"/>
                </a:solidFill>
                <a:latin typeface="Trebuchet MS" pitchFamily="34" charset="0"/>
                <a:ea typeface="Trebuchet MS" pitchFamily="34" charset="-122"/>
                <a:cs typeface="Trebuchet MS" pitchFamily="34" charset="-120"/>
              </a:rPr>
              <a:t>The cost of entry &amp; ROI reality</a:t>
            </a:r>
            <a:endParaRPr lang="en-US" sz="1300" dirty="0"/>
          </a:p>
        </p:txBody>
      </p:sp>
      <p:sp>
        <p:nvSpPr>
          <p:cNvPr id="18" name="Text 16"/>
          <p:cNvSpPr/>
          <p:nvPr/>
        </p:nvSpPr>
        <p:spPr>
          <a:xfrm>
            <a:off x="1024128" y="2999232"/>
            <a:ext cx="5029200" cy="201168"/>
          </a:xfrm>
          <a:prstGeom prst="rect">
            <a:avLst/>
          </a:prstGeom>
          <a:noFill/>
          <a:ln/>
        </p:spPr>
        <p:txBody>
          <a:bodyPr wrap="square" rtlCol="0" anchor="ctr"/>
          <a:lstStyle/>
          <a:p>
            <a:pPr marL="0" indent="0">
              <a:buNone/>
            </a:pPr>
            <a:r>
              <a:rPr lang="en-US" sz="1000" dirty="0">
                <a:solidFill>
                  <a:srgbClr val="6B6B82"/>
                </a:solidFill>
                <a:latin typeface="Calibri" pitchFamily="34" charset="0"/>
                <a:ea typeface="Calibri" pitchFamily="34" charset="-122"/>
                <a:cs typeface="Calibri" pitchFamily="34" charset="-120"/>
              </a:rPr>
              <a:t>Real numbers · Pricing models · ROI Calculator</a:t>
            </a:r>
            <a:endParaRPr lang="en-US" sz="1000" dirty="0"/>
          </a:p>
        </p:txBody>
      </p:sp>
      <p:sp>
        <p:nvSpPr>
          <p:cNvPr id="19" name="Shape 17"/>
          <p:cNvSpPr/>
          <p:nvPr/>
        </p:nvSpPr>
        <p:spPr>
          <a:xfrm>
            <a:off x="411480" y="3310128"/>
            <a:ext cx="5943600" cy="0"/>
          </a:xfrm>
          <a:prstGeom prst="line">
            <a:avLst/>
          </a:prstGeom>
          <a:noFill/>
          <a:ln w="6350">
            <a:solidFill>
              <a:srgbClr val="E4E2F2"/>
            </a:solidFill>
            <a:prstDash val="solid"/>
          </a:ln>
        </p:spPr>
        <p:txBody>
          <a:bodyPr/>
          <a:p/>
        </p:txBody>
      </p:sp>
      <p:sp>
        <p:nvSpPr>
          <p:cNvPr id="20" name="Shape 18"/>
          <p:cNvSpPr/>
          <p:nvPr/>
        </p:nvSpPr>
        <p:spPr>
          <a:xfrm>
            <a:off x="411480" y="3410712"/>
            <a:ext cx="493776" cy="493776"/>
          </a:xfrm>
          <a:prstGeom prst="rect">
            <a:avLst/>
          </a:prstGeom>
          <a:solidFill>
            <a:srgbClr val="C8F064"/>
          </a:solidFill>
          <a:ln w="12700">
            <a:solidFill>
              <a:srgbClr val="C8F064"/>
            </a:solidFill>
            <a:prstDash val="solid"/>
          </a:ln>
        </p:spPr>
        <p:txBody>
          <a:bodyPr/>
          <a:p/>
        </p:txBody>
      </p:sp>
      <p:sp>
        <p:nvSpPr>
          <p:cNvPr id="21" name="Text 19"/>
          <p:cNvSpPr/>
          <p:nvPr/>
        </p:nvSpPr>
        <p:spPr>
          <a:xfrm>
            <a:off x="411480" y="3410712"/>
            <a:ext cx="493776" cy="493776"/>
          </a:xfrm>
          <a:prstGeom prst="rect">
            <a:avLst/>
          </a:prstGeom>
          <a:noFill/>
          <a:ln/>
        </p:spPr>
        <p:txBody>
          <a:bodyPr wrap="square" lIns="0" tIns="0" rIns="0" bIns="0" rtlCol="0" anchor="ctr"/>
          <a:lstStyle/>
          <a:p>
            <a:pPr marL="0" indent="0" algn="ctr">
              <a:buNone/>
            </a:pPr>
            <a:r>
              <a:rPr lang="en-US" sz="1400" b="1" dirty="0">
                <a:solidFill>
                  <a:srgbClr val="0C0C14"/>
                </a:solidFill>
                <a:latin typeface="Trebuchet MS" pitchFamily="34" charset="0"/>
                <a:ea typeface="Trebuchet MS" pitchFamily="34" charset="-122"/>
                <a:cs typeface="Trebuchet MS" pitchFamily="34" charset="-120"/>
              </a:rPr>
              <a:t>04</a:t>
            </a:r>
            <a:endParaRPr lang="en-US" sz="1400" dirty="0"/>
          </a:p>
        </p:txBody>
      </p:sp>
      <p:sp>
        <p:nvSpPr>
          <p:cNvPr id="22" name="Text 20"/>
          <p:cNvSpPr/>
          <p:nvPr/>
        </p:nvSpPr>
        <p:spPr>
          <a:xfrm>
            <a:off x="1024128" y="3429000"/>
            <a:ext cx="5029200" cy="274320"/>
          </a:xfrm>
          <a:prstGeom prst="rect">
            <a:avLst/>
          </a:prstGeom>
          <a:noFill/>
          <a:ln/>
        </p:spPr>
        <p:txBody>
          <a:bodyPr wrap="square" rtlCol="0" anchor="ctr"/>
          <a:lstStyle/>
          <a:p>
            <a:pPr marL="0" indent="0">
              <a:buNone/>
            </a:pPr>
            <a:r>
              <a:rPr lang="en-US" sz="1300" b="1" dirty="0">
                <a:solidFill>
                  <a:srgbClr val="0C0C14"/>
                </a:solidFill>
                <a:latin typeface="Trebuchet MS" pitchFamily="34" charset="0"/>
                <a:ea typeface="Trebuchet MS" pitchFamily="34" charset="-122"/>
                <a:cs typeface="Trebuchet MS" pitchFamily="34" charset="-120"/>
              </a:rPr>
              <a:t>Opportunities &amp; where to play</a:t>
            </a:r>
            <a:endParaRPr lang="en-US" sz="1300" dirty="0"/>
          </a:p>
        </p:txBody>
      </p:sp>
      <p:sp>
        <p:nvSpPr>
          <p:cNvPr id="23" name="Text 21"/>
          <p:cNvSpPr/>
          <p:nvPr/>
        </p:nvSpPr>
        <p:spPr>
          <a:xfrm>
            <a:off x="1024128" y="3703320"/>
            <a:ext cx="5029200" cy="201168"/>
          </a:xfrm>
          <a:prstGeom prst="rect">
            <a:avLst/>
          </a:prstGeom>
          <a:noFill/>
          <a:ln/>
        </p:spPr>
        <p:txBody>
          <a:bodyPr wrap="square" rtlCol="0" anchor="ctr"/>
          <a:lstStyle/>
          <a:p>
            <a:pPr marL="0" indent="0">
              <a:buNone/>
            </a:pPr>
            <a:r>
              <a:rPr lang="en-US" sz="1000" dirty="0">
                <a:solidFill>
                  <a:srgbClr val="6B6B82"/>
                </a:solidFill>
                <a:latin typeface="Calibri" pitchFamily="34" charset="0"/>
                <a:ea typeface="Calibri" pitchFamily="34" charset="-122"/>
                <a:cs typeface="Calibri" pitchFamily="34" charset="-120"/>
              </a:rPr>
              <a:t>Use cases · Industries · Challenges</a:t>
            </a:r>
            <a:endParaRPr lang="en-US" sz="1000" dirty="0"/>
          </a:p>
        </p:txBody>
      </p:sp>
      <p:sp>
        <p:nvSpPr>
          <p:cNvPr id="24" name="Shape 22"/>
          <p:cNvSpPr/>
          <p:nvPr/>
        </p:nvSpPr>
        <p:spPr>
          <a:xfrm>
            <a:off x="411480" y="4014216"/>
            <a:ext cx="5943600" cy="0"/>
          </a:xfrm>
          <a:prstGeom prst="line">
            <a:avLst/>
          </a:prstGeom>
          <a:noFill/>
          <a:ln w="6350">
            <a:solidFill>
              <a:srgbClr val="E4E2F2"/>
            </a:solidFill>
            <a:prstDash val="solid"/>
          </a:ln>
        </p:spPr>
        <p:txBody>
          <a:bodyPr/>
          <a:p/>
        </p:txBody>
      </p:sp>
      <p:sp>
        <p:nvSpPr>
          <p:cNvPr id="25" name="Shape 23"/>
          <p:cNvSpPr/>
          <p:nvPr/>
        </p:nvSpPr>
        <p:spPr>
          <a:xfrm>
            <a:off x="411480" y="4114800"/>
            <a:ext cx="493776" cy="493776"/>
          </a:xfrm>
          <a:prstGeom prst="rect">
            <a:avLst/>
          </a:prstGeom>
          <a:solidFill>
            <a:srgbClr val="C8F064"/>
          </a:solidFill>
          <a:ln w="12700">
            <a:solidFill>
              <a:srgbClr val="C8F064"/>
            </a:solidFill>
            <a:prstDash val="solid"/>
          </a:ln>
        </p:spPr>
        <p:txBody>
          <a:bodyPr/>
          <a:p/>
        </p:txBody>
      </p:sp>
      <p:sp>
        <p:nvSpPr>
          <p:cNvPr id="26" name="Text 24"/>
          <p:cNvSpPr/>
          <p:nvPr/>
        </p:nvSpPr>
        <p:spPr>
          <a:xfrm>
            <a:off x="411480" y="4114800"/>
            <a:ext cx="493776" cy="493776"/>
          </a:xfrm>
          <a:prstGeom prst="rect">
            <a:avLst/>
          </a:prstGeom>
          <a:noFill/>
          <a:ln/>
        </p:spPr>
        <p:txBody>
          <a:bodyPr wrap="square" lIns="0" tIns="0" rIns="0" bIns="0" rtlCol="0" anchor="ctr"/>
          <a:lstStyle/>
          <a:p>
            <a:pPr marL="0" indent="0" algn="ctr">
              <a:buNone/>
            </a:pPr>
            <a:r>
              <a:rPr lang="en-US" sz="1400" b="1" dirty="0">
                <a:solidFill>
                  <a:srgbClr val="0C0C14"/>
                </a:solidFill>
                <a:latin typeface="Trebuchet MS" pitchFamily="34" charset="0"/>
                <a:ea typeface="Trebuchet MS" pitchFamily="34" charset="-122"/>
                <a:cs typeface="Trebuchet MS" pitchFamily="34" charset="-120"/>
              </a:rPr>
              <a:t>05</a:t>
            </a:r>
            <a:endParaRPr lang="en-US" sz="1400" dirty="0"/>
          </a:p>
        </p:txBody>
      </p:sp>
      <p:sp>
        <p:nvSpPr>
          <p:cNvPr id="27" name="Text 25"/>
          <p:cNvSpPr/>
          <p:nvPr/>
        </p:nvSpPr>
        <p:spPr>
          <a:xfrm>
            <a:off x="1024128" y="4133088"/>
            <a:ext cx="5029200" cy="274320"/>
          </a:xfrm>
          <a:prstGeom prst="rect">
            <a:avLst/>
          </a:prstGeom>
          <a:noFill/>
          <a:ln/>
        </p:spPr>
        <p:txBody>
          <a:bodyPr wrap="square" rtlCol="0" anchor="ctr"/>
          <a:lstStyle/>
          <a:p>
            <a:pPr marL="0" indent="0">
              <a:buNone/>
            </a:pPr>
            <a:r>
              <a:rPr lang="en-US" sz="1300" b="1" dirty="0">
                <a:solidFill>
                  <a:srgbClr val="0C0C14"/>
                </a:solidFill>
                <a:latin typeface="Trebuchet MS" pitchFamily="34" charset="0"/>
                <a:ea typeface="Trebuchet MS" pitchFamily="34" charset="-122"/>
                <a:cs typeface="Trebuchet MS" pitchFamily="34" charset="-120"/>
              </a:rPr>
              <a:t>Readiness assessment + Q&amp;A</a:t>
            </a:r>
            <a:endParaRPr lang="en-US" sz="1300" dirty="0"/>
          </a:p>
        </p:txBody>
      </p:sp>
      <p:sp>
        <p:nvSpPr>
          <p:cNvPr id="28" name="Text 26"/>
          <p:cNvSpPr/>
          <p:nvPr/>
        </p:nvSpPr>
        <p:spPr>
          <a:xfrm>
            <a:off x="1024128" y="4407408"/>
            <a:ext cx="5029200" cy="201168"/>
          </a:xfrm>
          <a:prstGeom prst="rect">
            <a:avLst/>
          </a:prstGeom>
          <a:noFill/>
          <a:ln/>
        </p:spPr>
        <p:txBody>
          <a:bodyPr wrap="square" rtlCol="0" anchor="ctr"/>
          <a:lstStyle/>
          <a:p>
            <a:pPr marL="0" indent="0">
              <a:buNone/>
            </a:pPr>
            <a:r>
              <a:rPr lang="en-US" sz="1000" dirty="0">
                <a:solidFill>
                  <a:srgbClr val="6B6B82"/>
                </a:solidFill>
                <a:latin typeface="Calibri" pitchFamily="34" charset="0"/>
                <a:ea typeface="Calibri" pitchFamily="34" charset="-122"/>
                <a:cs typeface="Calibri" pitchFamily="34" charset="-120"/>
              </a:rPr>
              <a:t>Live scorecard · 3 outcome buckets · Open Q&amp;A</a:t>
            </a:r>
            <a:endParaRPr lang="en-US" sz="1000" dirty="0"/>
          </a:p>
        </p:txBody>
      </p:sp>
      <p:sp>
        <p:nvSpPr>
          <p:cNvPr id="29" name="Shape 27"/>
          <p:cNvSpPr/>
          <p:nvPr/>
        </p:nvSpPr>
        <p:spPr>
          <a:xfrm>
            <a:off x="6492240" y="1234440"/>
            <a:ext cx="2423160" cy="3566160"/>
          </a:xfrm>
          <a:prstGeom prst="rect">
            <a:avLst/>
          </a:prstGeom>
          <a:solidFill>
            <a:srgbClr val="F6FDE8"/>
          </a:solidFill>
          <a:ln w="12700">
            <a:solidFill>
              <a:srgbClr val="BADC7A"/>
            </a:solidFill>
            <a:prstDash val="solid"/>
          </a:ln>
        </p:spPr>
        <p:txBody>
          <a:bodyPr/>
          <a:p/>
        </p:txBody>
      </p:sp>
      <p:sp>
        <p:nvSpPr>
          <p:cNvPr id="30" name="Text 28"/>
          <p:cNvSpPr/>
          <p:nvPr/>
        </p:nvSpPr>
        <p:spPr>
          <a:xfrm>
            <a:off x="6601968" y="1389888"/>
            <a:ext cx="2194560" cy="256032"/>
          </a:xfrm>
          <a:prstGeom prst="rect">
            <a:avLst/>
          </a:prstGeom>
          <a:noFill/>
          <a:ln/>
        </p:spPr>
        <p:txBody>
          <a:bodyPr wrap="square" rtlCol="0" anchor="ctr"/>
          <a:lstStyle/>
          <a:p>
            <a:pPr marL="0" indent="0">
              <a:buNone/>
            </a:pPr>
            <a:r>
              <a:rPr lang="en-US" sz="900" b="1" kern="0" spc="400" dirty="0">
                <a:solidFill>
                  <a:srgbClr val="5A7A18"/>
                </a:solidFill>
                <a:latin typeface="Trebuchet MS" pitchFamily="34" charset="0"/>
                <a:ea typeface="Trebuchet MS" pitchFamily="34" charset="-122"/>
                <a:cs typeface="Trebuchet MS" pitchFamily="34" charset="-120"/>
              </a:rPr>
              <a:t>TAKEAWAYS</a:t>
            </a:r>
            <a:endParaRPr lang="en-US" sz="900" dirty="0"/>
          </a:p>
        </p:txBody>
      </p:sp>
      <p:sp>
        <p:nvSpPr>
          <p:cNvPr id="31" name="Shape 29"/>
          <p:cNvSpPr/>
          <p:nvPr/>
        </p:nvSpPr>
        <p:spPr>
          <a:xfrm>
            <a:off x="6601968" y="1847088"/>
            <a:ext cx="146304" cy="146304"/>
          </a:xfrm>
          <a:prstGeom prst="ellipse">
            <a:avLst/>
          </a:prstGeom>
          <a:solidFill>
            <a:srgbClr val="C8F064"/>
          </a:solidFill>
          <a:ln w="12700">
            <a:solidFill>
              <a:srgbClr val="C8F064"/>
            </a:solidFill>
            <a:prstDash val="solid"/>
          </a:ln>
        </p:spPr>
        <p:txBody>
          <a:bodyPr/>
          <a:p/>
        </p:txBody>
      </p:sp>
      <p:sp>
        <p:nvSpPr>
          <p:cNvPr id="32" name="Text 30"/>
          <p:cNvSpPr/>
          <p:nvPr/>
        </p:nvSpPr>
        <p:spPr>
          <a:xfrm>
            <a:off x="6821424" y="1801368"/>
            <a:ext cx="1965960" cy="274320"/>
          </a:xfrm>
          <a:prstGeom prst="rect">
            <a:avLst/>
          </a:prstGeom>
          <a:noFill/>
          <a:ln/>
        </p:spPr>
        <p:txBody>
          <a:bodyPr wrap="square" rtlCol="0" anchor="ctr"/>
          <a:lstStyle/>
          <a:p>
            <a:pPr marL="0" indent="0">
              <a:buNone/>
            </a:pPr>
            <a:r>
              <a:rPr lang="en-US" sz="1200" b="1" dirty="0">
                <a:solidFill>
                  <a:srgbClr val="0C0C14"/>
                </a:solidFill>
                <a:latin typeface="Trebuchet MS" pitchFamily="34" charset="0"/>
                <a:ea typeface="Trebuchet MS" pitchFamily="34" charset="-122"/>
                <a:cs typeface="Trebuchet MS" pitchFamily="34" charset="-120"/>
              </a:rPr>
              <a:t>Tool Stack Guide</a:t>
            </a:r>
            <a:endParaRPr lang="en-US" sz="1200" dirty="0"/>
          </a:p>
        </p:txBody>
      </p:sp>
      <p:sp>
        <p:nvSpPr>
          <p:cNvPr id="33" name="Shape 31"/>
          <p:cNvSpPr/>
          <p:nvPr/>
        </p:nvSpPr>
        <p:spPr>
          <a:xfrm>
            <a:off x="6601968" y="2414016"/>
            <a:ext cx="146304" cy="146304"/>
          </a:xfrm>
          <a:prstGeom prst="ellipse">
            <a:avLst/>
          </a:prstGeom>
          <a:solidFill>
            <a:srgbClr val="C8F064"/>
          </a:solidFill>
          <a:ln w="12700">
            <a:solidFill>
              <a:srgbClr val="C8F064"/>
            </a:solidFill>
            <a:prstDash val="solid"/>
          </a:ln>
        </p:spPr>
        <p:txBody>
          <a:bodyPr/>
          <a:p/>
        </p:txBody>
      </p:sp>
      <p:sp>
        <p:nvSpPr>
          <p:cNvPr id="34" name="Text 32"/>
          <p:cNvSpPr/>
          <p:nvPr/>
        </p:nvSpPr>
        <p:spPr>
          <a:xfrm>
            <a:off x="6821424" y="2368296"/>
            <a:ext cx="1965960" cy="274320"/>
          </a:xfrm>
          <a:prstGeom prst="rect">
            <a:avLst/>
          </a:prstGeom>
          <a:noFill/>
          <a:ln/>
        </p:spPr>
        <p:txBody>
          <a:bodyPr wrap="square" rtlCol="0" anchor="ctr"/>
          <a:lstStyle/>
          <a:p>
            <a:pPr marL="0" indent="0">
              <a:buNone/>
            </a:pPr>
            <a:r>
              <a:rPr lang="en-US" sz="1200" b="1" dirty="0">
                <a:solidFill>
                  <a:srgbClr val="0C0C14"/>
                </a:solidFill>
                <a:latin typeface="Trebuchet MS" pitchFamily="34" charset="0"/>
                <a:ea typeface="Trebuchet MS" pitchFamily="34" charset="-122"/>
                <a:cs typeface="Trebuchet MS" pitchFamily="34" charset="-120"/>
              </a:rPr>
              <a:t>ROI Calculator</a:t>
            </a:r>
            <a:endParaRPr lang="en-US" sz="1200" dirty="0"/>
          </a:p>
        </p:txBody>
      </p:sp>
      <p:sp>
        <p:nvSpPr>
          <p:cNvPr id="35" name="Shape 33"/>
          <p:cNvSpPr/>
          <p:nvPr/>
        </p:nvSpPr>
        <p:spPr>
          <a:xfrm>
            <a:off x="6601968" y="2980944"/>
            <a:ext cx="146304" cy="146304"/>
          </a:xfrm>
          <a:prstGeom prst="ellipse">
            <a:avLst/>
          </a:prstGeom>
          <a:solidFill>
            <a:srgbClr val="C8F064"/>
          </a:solidFill>
          <a:ln w="12700">
            <a:solidFill>
              <a:srgbClr val="C8F064"/>
            </a:solidFill>
            <a:prstDash val="solid"/>
          </a:ln>
        </p:spPr>
        <p:txBody>
          <a:bodyPr/>
          <a:p/>
        </p:txBody>
      </p:sp>
      <p:sp>
        <p:nvSpPr>
          <p:cNvPr id="36" name="Text 34"/>
          <p:cNvSpPr/>
          <p:nvPr/>
        </p:nvSpPr>
        <p:spPr>
          <a:xfrm>
            <a:off x="6821424" y="2935224"/>
            <a:ext cx="1965960" cy="274320"/>
          </a:xfrm>
          <a:prstGeom prst="rect">
            <a:avLst/>
          </a:prstGeom>
          <a:noFill/>
          <a:ln/>
        </p:spPr>
        <p:txBody>
          <a:bodyPr wrap="square" rtlCol="0" anchor="ctr"/>
          <a:lstStyle/>
          <a:p>
            <a:pPr marL="0" indent="0">
              <a:buNone/>
            </a:pPr>
            <a:r>
              <a:rPr lang="en-US" sz="1200" b="1" dirty="0">
                <a:solidFill>
                  <a:srgbClr val="0C0C14"/>
                </a:solidFill>
                <a:latin typeface="Trebuchet MS" pitchFamily="34" charset="0"/>
                <a:ea typeface="Trebuchet MS" pitchFamily="34" charset="-122"/>
                <a:cs typeface="Trebuchet MS" pitchFamily="34" charset="-120"/>
              </a:rPr>
              <a:t>Readiness Scorecard</a:t>
            </a:r>
            <a:endParaRPr lang="en-US" sz="1200" dirty="0"/>
          </a:p>
        </p:txBody>
      </p:sp>
      <p:sp>
        <p:nvSpPr>
          <p:cNvPr id="37" name="Text 35"/>
          <p:cNvSpPr/>
          <p:nvPr/>
        </p:nvSpPr>
        <p:spPr>
          <a:xfrm>
            <a:off x="6601968" y="3584448"/>
            <a:ext cx="2194560" cy="731520"/>
          </a:xfrm>
          <a:prstGeom prst="rect">
            <a:avLst/>
          </a:prstGeom>
          <a:noFill/>
          <a:ln/>
        </p:spPr>
        <p:txBody>
          <a:bodyPr wrap="square" rtlCol="0" anchor="ctr"/>
          <a:lstStyle/>
          <a:p>
            <a:pPr marL="0" indent="0">
              <a:buNone/>
            </a:pPr>
            <a:r>
              <a:rPr lang="en-US" sz="1000" i="1" dirty="0">
                <a:solidFill>
                  <a:srgbClr val="6B6B82"/>
                </a:solidFill>
                <a:latin typeface="Calibri" pitchFamily="34" charset="0"/>
                <a:ea typeface="Calibri" pitchFamily="34" charset="-122"/>
                <a:cs typeface="Calibri" pitchFamily="34" charset="-120"/>
              </a:rPr>
              <a:t>Shared at the end of</a:t>
            </a:r>
            <a:endParaRPr lang="en-US" sz="1000" dirty="0"/>
          </a:p>
          <a:p>
            <a:pPr marL="0" indent="0">
              <a:buNone/>
            </a:pPr>
            <a:r>
              <a:rPr lang="en-US" sz="1000" i="1" dirty="0">
                <a:solidFill>
                  <a:srgbClr val="6B6B82"/>
                </a:solidFill>
                <a:latin typeface="Calibri" pitchFamily="34" charset="0"/>
                <a:ea typeface="Calibri" pitchFamily="34" charset="-122"/>
                <a:cs typeface="Calibri" pitchFamily="34" charset="-120"/>
              </a:rPr>
              <a:t>the session.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0" y="0"/>
            <a:ext cx="3657600" cy="2926080"/>
          </a:xfrm>
          <a:prstGeom prst="rect">
            <a:avLst/>
          </a:prstGeom>
          <a:noFill/>
          <a:ln/>
        </p:spPr>
        <p:txBody>
          <a:bodyPr wrap="square" rtlCol="0" anchor="ctr"/>
          <a:lstStyle/>
          <a:p>
            <a:pPr marL="0" indent="0" algn="r">
              <a:buNone/>
            </a:pPr>
            <a:r>
              <a:rPr lang="en-US" sz="19000" b="1" dirty="0">
                <a:solidFill>
                  <a:srgbClr val="F0EFF8"/>
                </a:solidFill>
                <a:latin typeface="Trebuchet MS" pitchFamily="34" charset="0"/>
                <a:ea typeface="Trebuchet MS" pitchFamily="34" charset="-122"/>
                <a:cs typeface="Trebuchet MS" pitchFamily="34" charset="-120"/>
              </a:rPr>
              <a:t>01</a:t>
            </a:r>
            <a:endParaRPr lang="en-US" sz="19000" dirty="0"/>
          </a:p>
        </p:txBody>
      </p:sp>
      <p:sp>
        <p:nvSpPr>
          <p:cNvPr id="3" name="Text 1"/>
          <p:cNvSpPr/>
          <p:nvPr/>
        </p:nvSpPr>
        <p:spPr>
          <a:xfrm>
            <a:off x="457200" y="274320"/>
            <a:ext cx="5486400" cy="256032"/>
          </a:xfrm>
          <a:prstGeom prst="rect">
            <a:avLst/>
          </a:prstGeom>
          <a:noFill/>
          <a:ln/>
        </p:spPr>
        <p:txBody>
          <a:bodyPr wrap="square" rtlCol="0" anchor="ctr"/>
          <a:lstStyle/>
          <a:p>
            <a:pPr marL="0" indent="0">
              <a:buNone/>
            </a:pPr>
            <a:r>
              <a:rPr lang="en-US" sz="1000" b="1" kern="0" spc="500" dirty="0">
                <a:solidFill>
                  <a:srgbClr val="7A9A20"/>
                </a:solidFill>
                <a:latin typeface="Trebuchet MS" pitchFamily="34" charset="0"/>
                <a:ea typeface="Trebuchet MS" pitchFamily="34" charset="-122"/>
                <a:cs typeface="Trebuchet MS" pitchFamily="34" charset="-120"/>
              </a:rPr>
              <a:t>SESSION  01</a:t>
            </a:r>
            <a:endParaRPr lang="en-US" sz="1000" dirty="0"/>
          </a:p>
        </p:txBody>
      </p:sp>
      <p:sp>
        <p:nvSpPr>
          <p:cNvPr id="4" name="Text 2"/>
          <p:cNvSpPr/>
          <p:nvPr/>
        </p:nvSpPr>
        <p:spPr>
          <a:xfrm>
            <a:off x="457200" y="566928"/>
            <a:ext cx="6583680" cy="1280160"/>
          </a:xfrm>
          <a:prstGeom prst="rect">
            <a:avLst/>
          </a:prstGeom>
          <a:noFill/>
          <a:ln/>
        </p:spPr>
        <p:txBody>
          <a:bodyPr wrap="square" rtlCol="0" anchor="ctr"/>
          <a:lstStyle/>
          <a:p>
            <a:pPr marL="0" indent="0">
              <a:buNone/>
            </a:pPr>
            <a:r>
              <a:rPr lang="en-US" sz="2800" b="1" dirty="0">
                <a:solidFill>
                  <a:srgbClr val="0C0C14"/>
                </a:solidFill>
                <a:latin typeface="Trebuchet MS" pitchFamily="34" charset="0"/>
                <a:ea typeface="Trebuchet MS" pitchFamily="34" charset="-122"/>
                <a:cs typeface="Trebuchet MS" pitchFamily="34" charset="-120"/>
              </a:rPr>
              <a:t>What AI automation</a:t>
            </a:r>
            <a:endParaRPr lang="en-US" sz="2800" dirty="0"/>
          </a:p>
          <a:p>
            <a:pPr marL="0" indent="0">
              <a:buNone/>
            </a:pPr>
            <a:r>
              <a:rPr lang="en-US" sz="2800" b="1" dirty="0">
                <a:solidFill>
                  <a:srgbClr val="0C0C14"/>
                </a:solidFill>
                <a:latin typeface="Trebuchet MS" pitchFamily="34" charset="0"/>
                <a:ea typeface="Trebuchet MS" pitchFamily="34" charset="-122"/>
                <a:cs typeface="Trebuchet MS" pitchFamily="34" charset="-120"/>
              </a:rPr>
              <a:t>actually is</a:t>
            </a:r>
            <a:endParaRPr lang="en-US" sz="2800" dirty="0"/>
          </a:p>
        </p:txBody>
      </p:sp>
      <p:sp>
        <p:nvSpPr>
          <p:cNvPr id="5" name="Shape 3"/>
          <p:cNvSpPr/>
          <p:nvPr/>
        </p:nvSpPr>
        <p:spPr>
          <a:xfrm>
            <a:off x="457200" y="1965960"/>
            <a:ext cx="4389120" cy="1097280"/>
          </a:xfrm>
          <a:prstGeom prst="rect">
            <a:avLst/>
          </a:prstGeom>
          <a:solidFill>
            <a:srgbClr val="0C0C14"/>
          </a:solidFill>
          <a:ln w="12700">
            <a:solidFill>
              <a:srgbClr val="0C0C14"/>
            </a:solidFill>
            <a:prstDash val="solid"/>
          </a:ln>
        </p:spPr>
      </p:sp>
      <p:sp>
        <p:nvSpPr>
          <p:cNvPr id="6" name="Text 4"/>
          <p:cNvSpPr/>
          <p:nvPr/>
        </p:nvSpPr>
        <p:spPr>
          <a:xfrm>
            <a:off x="621792" y="2057400"/>
            <a:ext cx="4069080" cy="914400"/>
          </a:xfrm>
          <a:prstGeom prst="rect">
            <a:avLst/>
          </a:prstGeom>
          <a:noFill/>
          <a:ln/>
        </p:spPr>
        <p:txBody>
          <a:bodyPr wrap="square"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Connecting AI models to business workflows that trigger, process, and act automatically - without manual intervention.</a:t>
            </a:r>
            <a:endParaRPr lang="en-US" sz="1200" dirty="0"/>
          </a:p>
        </p:txBody>
      </p:sp>
      <p:sp>
        <p:nvSpPr>
          <p:cNvPr id="7" name="Shape 5"/>
          <p:cNvSpPr/>
          <p:nvPr/>
        </p:nvSpPr>
        <p:spPr>
          <a:xfrm>
            <a:off x="457200" y="3291840"/>
            <a:ext cx="2743200" cy="1463040"/>
          </a:xfrm>
          <a:prstGeom prst="rect">
            <a:avLst/>
          </a:prstGeom>
          <a:solidFill>
            <a:srgbClr val="F4F3FB"/>
          </a:solidFill>
          <a:ln w="10160">
            <a:solidFill>
              <a:srgbClr val="E4E2F2"/>
            </a:solidFill>
            <a:prstDash val="solid"/>
          </a:ln>
        </p:spPr>
      </p:sp>
      <p:sp>
        <p:nvSpPr>
          <p:cNvPr id="8" name="Shape 6"/>
          <p:cNvSpPr/>
          <p:nvPr/>
        </p:nvSpPr>
        <p:spPr>
          <a:xfrm>
            <a:off x="457200" y="3291840"/>
            <a:ext cx="2743200" cy="73152"/>
          </a:xfrm>
          <a:prstGeom prst="rect">
            <a:avLst/>
          </a:prstGeom>
          <a:solidFill>
            <a:srgbClr val="C8F064"/>
          </a:solidFill>
          <a:ln w="12700">
            <a:solidFill>
              <a:srgbClr val="C8F064"/>
            </a:solidFill>
            <a:prstDash val="solid"/>
          </a:ln>
        </p:spPr>
      </p:sp>
      <p:sp>
        <p:nvSpPr>
          <p:cNvPr id="9" name="Text 7"/>
          <p:cNvSpPr/>
          <p:nvPr/>
        </p:nvSpPr>
        <p:spPr>
          <a:xfrm>
            <a:off x="603504" y="3456432"/>
            <a:ext cx="2423160" cy="329184"/>
          </a:xfrm>
          <a:prstGeom prst="rect">
            <a:avLst/>
          </a:prstGeom>
          <a:noFill/>
          <a:ln/>
        </p:spPr>
        <p:txBody>
          <a:bodyPr wrap="square" rtlCol="0" anchor="ctr"/>
          <a:lstStyle/>
          <a:p>
            <a:pPr marL="0" indent="0">
              <a:buNone/>
            </a:pPr>
            <a:r>
              <a:rPr lang="en-US" sz="1400" b="1" dirty="0">
                <a:solidFill>
                  <a:srgbClr val="0C0C14"/>
                </a:solidFill>
                <a:latin typeface="Trebuchet MS" pitchFamily="34" charset="0"/>
                <a:ea typeface="Trebuchet MS" pitchFamily="34" charset="-122"/>
                <a:cs typeface="Trebuchet MS" pitchFamily="34" charset="-120"/>
              </a:rPr>
              <a:t>Freelancer</a:t>
            </a:r>
            <a:endParaRPr lang="en-US" sz="1400" dirty="0"/>
          </a:p>
        </p:txBody>
      </p:sp>
      <p:sp>
        <p:nvSpPr>
          <p:cNvPr id="10" name="Text 8"/>
          <p:cNvSpPr/>
          <p:nvPr/>
        </p:nvSpPr>
        <p:spPr>
          <a:xfrm>
            <a:off x="603504" y="3858768"/>
            <a:ext cx="2423160" cy="804672"/>
          </a:xfrm>
          <a:prstGeom prst="rect">
            <a:avLst/>
          </a:prstGeom>
          <a:noFill/>
          <a:ln/>
        </p:spPr>
        <p:txBody>
          <a:bodyPr wrap="square" rtlCol="0" anchor="ctr"/>
          <a:lstStyle/>
          <a:p>
            <a:pPr marL="0" indent="0">
              <a:buNone/>
            </a:pPr>
            <a:r>
              <a:rPr lang="en-US" sz="1100" dirty="0">
                <a:solidFill>
                  <a:srgbClr val="6B6B82"/>
                </a:solidFill>
                <a:latin typeface="Calibri" pitchFamily="34" charset="0"/>
                <a:ea typeface="Calibri" pitchFamily="34" charset="-122"/>
                <a:cs typeface="Calibri" pitchFamily="34" charset="-120"/>
              </a:rPr>
              <a:t>Solo service provider. Project or retainer-based. Fastest path to first income.</a:t>
            </a:r>
            <a:endParaRPr lang="en-US" sz="1100" dirty="0"/>
          </a:p>
        </p:txBody>
      </p:sp>
      <p:sp>
        <p:nvSpPr>
          <p:cNvPr id="11" name="Shape 9"/>
          <p:cNvSpPr/>
          <p:nvPr/>
        </p:nvSpPr>
        <p:spPr>
          <a:xfrm>
            <a:off x="3364992" y="3291840"/>
            <a:ext cx="2743200" cy="1463040"/>
          </a:xfrm>
          <a:prstGeom prst="rect">
            <a:avLst/>
          </a:prstGeom>
          <a:solidFill>
            <a:srgbClr val="F4F3FB"/>
          </a:solidFill>
          <a:ln w="10160">
            <a:solidFill>
              <a:srgbClr val="E4E2F2"/>
            </a:solidFill>
            <a:prstDash val="solid"/>
          </a:ln>
        </p:spPr>
      </p:sp>
      <p:sp>
        <p:nvSpPr>
          <p:cNvPr id="12" name="Shape 10"/>
          <p:cNvSpPr/>
          <p:nvPr/>
        </p:nvSpPr>
        <p:spPr>
          <a:xfrm>
            <a:off x="3364992" y="3291840"/>
            <a:ext cx="2743200" cy="73152"/>
          </a:xfrm>
          <a:prstGeom prst="rect">
            <a:avLst/>
          </a:prstGeom>
          <a:solidFill>
            <a:srgbClr val="C8F064"/>
          </a:solidFill>
          <a:ln w="12700">
            <a:solidFill>
              <a:srgbClr val="C8F064"/>
            </a:solidFill>
            <a:prstDash val="solid"/>
          </a:ln>
        </p:spPr>
      </p:sp>
      <p:sp>
        <p:nvSpPr>
          <p:cNvPr id="13" name="Text 11"/>
          <p:cNvSpPr/>
          <p:nvPr/>
        </p:nvSpPr>
        <p:spPr>
          <a:xfrm>
            <a:off x="3511296" y="3456432"/>
            <a:ext cx="2423160" cy="329184"/>
          </a:xfrm>
          <a:prstGeom prst="rect">
            <a:avLst/>
          </a:prstGeom>
          <a:noFill/>
          <a:ln/>
        </p:spPr>
        <p:txBody>
          <a:bodyPr wrap="square" rtlCol="0" anchor="ctr"/>
          <a:lstStyle/>
          <a:p>
            <a:pPr marL="0" indent="0">
              <a:buNone/>
            </a:pPr>
            <a:r>
              <a:rPr lang="en-US" sz="1400" b="1" dirty="0">
                <a:solidFill>
                  <a:srgbClr val="0C0C14"/>
                </a:solidFill>
                <a:latin typeface="Trebuchet MS" pitchFamily="34" charset="0"/>
                <a:ea typeface="Trebuchet MS" pitchFamily="34" charset="-122"/>
                <a:cs typeface="Trebuchet MS" pitchFamily="34" charset="-120"/>
              </a:rPr>
              <a:t>Agency</a:t>
            </a:r>
            <a:endParaRPr lang="en-US" sz="1400" dirty="0"/>
          </a:p>
        </p:txBody>
      </p:sp>
      <p:sp>
        <p:nvSpPr>
          <p:cNvPr id="14" name="Text 12"/>
          <p:cNvSpPr/>
          <p:nvPr/>
        </p:nvSpPr>
        <p:spPr>
          <a:xfrm>
            <a:off x="3511296" y="3858768"/>
            <a:ext cx="2423160" cy="804672"/>
          </a:xfrm>
          <a:prstGeom prst="rect">
            <a:avLst/>
          </a:prstGeom>
          <a:noFill/>
          <a:ln/>
        </p:spPr>
        <p:txBody>
          <a:bodyPr wrap="square" rtlCol="0" anchor="ctr"/>
          <a:lstStyle/>
          <a:p>
            <a:pPr marL="0" indent="0">
              <a:buNone/>
            </a:pPr>
            <a:r>
              <a:rPr lang="en-US" sz="1100" dirty="0">
                <a:solidFill>
                  <a:srgbClr val="6B6B82"/>
                </a:solidFill>
                <a:latin typeface="Calibri" pitchFamily="34" charset="0"/>
                <a:ea typeface="Calibri" pitchFamily="34" charset="-122"/>
                <a:cs typeface="Calibri" pitchFamily="34" charset="-120"/>
              </a:rPr>
              <a:t>Team + systems. Higher deal volume. Predictable monthly recurring revenue.</a:t>
            </a:r>
            <a:endParaRPr lang="en-US" sz="1100" dirty="0"/>
          </a:p>
        </p:txBody>
      </p:sp>
      <p:sp>
        <p:nvSpPr>
          <p:cNvPr id="15" name="Shape 13"/>
          <p:cNvSpPr/>
          <p:nvPr/>
        </p:nvSpPr>
        <p:spPr>
          <a:xfrm>
            <a:off x="6272784" y="3291840"/>
            <a:ext cx="2743200" cy="1463040"/>
          </a:xfrm>
          <a:prstGeom prst="rect">
            <a:avLst/>
          </a:prstGeom>
          <a:solidFill>
            <a:srgbClr val="F4F3FB"/>
          </a:solidFill>
          <a:ln w="10160">
            <a:solidFill>
              <a:srgbClr val="E4E2F2"/>
            </a:solidFill>
            <a:prstDash val="solid"/>
          </a:ln>
        </p:spPr>
      </p:sp>
      <p:sp>
        <p:nvSpPr>
          <p:cNvPr id="16" name="Shape 14"/>
          <p:cNvSpPr/>
          <p:nvPr/>
        </p:nvSpPr>
        <p:spPr>
          <a:xfrm>
            <a:off x="6272784" y="3291840"/>
            <a:ext cx="2743200" cy="73152"/>
          </a:xfrm>
          <a:prstGeom prst="rect">
            <a:avLst/>
          </a:prstGeom>
          <a:solidFill>
            <a:srgbClr val="C8F064"/>
          </a:solidFill>
          <a:ln w="12700">
            <a:solidFill>
              <a:srgbClr val="C8F064"/>
            </a:solidFill>
            <a:prstDash val="solid"/>
          </a:ln>
        </p:spPr>
      </p:sp>
      <p:sp>
        <p:nvSpPr>
          <p:cNvPr id="17" name="Text 15"/>
          <p:cNvSpPr/>
          <p:nvPr/>
        </p:nvSpPr>
        <p:spPr>
          <a:xfrm>
            <a:off x="6419088" y="3456432"/>
            <a:ext cx="2423160" cy="329184"/>
          </a:xfrm>
          <a:prstGeom prst="rect">
            <a:avLst/>
          </a:prstGeom>
          <a:noFill/>
          <a:ln/>
        </p:spPr>
        <p:txBody>
          <a:bodyPr wrap="square" rtlCol="0" anchor="ctr"/>
          <a:lstStyle/>
          <a:p>
            <a:pPr marL="0" indent="0">
              <a:buNone/>
            </a:pPr>
            <a:r>
              <a:rPr lang="en-US" sz="1400" b="1" dirty="0">
                <a:solidFill>
                  <a:srgbClr val="0C0C14"/>
                </a:solidFill>
                <a:latin typeface="Trebuchet MS" pitchFamily="34" charset="0"/>
                <a:ea typeface="Trebuchet MS" pitchFamily="34" charset="-122"/>
                <a:cs typeface="Trebuchet MS" pitchFamily="34" charset="-120"/>
              </a:rPr>
              <a:t>Productised</a:t>
            </a:r>
            <a:endParaRPr lang="en-US" sz="1400" dirty="0"/>
          </a:p>
        </p:txBody>
      </p:sp>
      <p:sp>
        <p:nvSpPr>
          <p:cNvPr id="18" name="Text 16"/>
          <p:cNvSpPr/>
          <p:nvPr/>
        </p:nvSpPr>
        <p:spPr>
          <a:xfrm>
            <a:off x="6419088" y="3858768"/>
            <a:ext cx="2423160" cy="804672"/>
          </a:xfrm>
          <a:prstGeom prst="rect">
            <a:avLst/>
          </a:prstGeom>
          <a:noFill/>
          <a:ln/>
        </p:spPr>
        <p:txBody>
          <a:bodyPr wrap="square" rtlCol="0" anchor="ctr"/>
          <a:lstStyle/>
          <a:p>
            <a:pPr marL="0" indent="0">
              <a:buNone/>
            </a:pPr>
            <a:r>
              <a:rPr lang="en-US" sz="1100" dirty="0">
                <a:solidFill>
                  <a:srgbClr val="6B6B82"/>
                </a:solidFill>
                <a:latin typeface="Calibri" pitchFamily="34" charset="0"/>
                <a:ea typeface="Calibri" pitchFamily="34" charset="-122"/>
                <a:cs typeface="Calibri" pitchFamily="34" charset="-120"/>
              </a:rPr>
              <a:t>Packaged fixed-scope service. Repeatable delivery. Easiest to scale.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C14"/>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256032"/>
          </a:xfrm>
          <a:prstGeom prst="rect">
            <a:avLst/>
          </a:prstGeom>
          <a:noFill/>
          <a:ln/>
        </p:spPr>
        <p:txBody>
          <a:bodyPr wrap="square" rtlCol="0" anchor="ctr"/>
          <a:lstStyle/>
          <a:p>
            <a:pPr marL="0" indent="0">
              <a:buNone/>
            </a:pPr>
            <a:r>
              <a:rPr lang="en-US" sz="1000" b="1" kern="0" spc="500" dirty="0">
                <a:solidFill>
                  <a:srgbClr val="C8F064"/>
                </a:solidFill>
                <a:latin typeface="Trebuchet MS" pitchFamily="34" charset="0"/>
                <a:ea typeface="Trebuchet MS" pitchFamily="34" charset="-122"/>
                <a:cs typeface="Trebuchet MS" pitchFamily="34" charset="-120"/>
              </a:rPr>
              <a:t>WHAT'S POSSIBLE</a:t>
            </a:r>
            <a:endParaRPr lang="en-US" sz="1000" dirty="0"/>
          </a:p>
        </p:txBody>
      </p:sp>
      <p:sp>
        <p:nvSpPr>
          <p:cNvPr id="3" name="Text 1"/>
          <p:cNvSpPr/>
          <p:nvPr/>
        </p:nvSpPr>
        <p:spPr>
          <a:xfrm>
            <a:off x="457200" y="566928"/>
            <a:ext cx="8229600" cy="685800"/>
          </a:xfrm>
          <a:prstGeom prst="rect">
            <a:avLst/>
          </a:prstGeom>
          <a:noFill/>
          <a:ln/>
        </p:spPr>
        <p:txBody>
          <a:bodyPr wrap="square"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Example projects - realistic for a capable beginner</a:t>
            </a:r>
            <a:endParaRPr lang="en-US" sz="2600" dirty="0"/>
          </a:p>
        </p:txBody>
      </p:sp>
      <p:sp>
        <p:nvSpPr>
          <p:cNvPr id="4" name="Shape 2"/>
          <p:cNvSpPr/>
          <p:nvPr/>
        </p:nvSpPr>
        <p:spPr>
          <a:xfrm>
            <a:off x="384048" y="1508760"/>
            <a:ext cx="2743200" cy="2286000"/>
          </a:xfrm>
          <a:prstGeom prst="rect">
            <a:avLst/>
          </a:prstGeom>
          <a:solidFill>
            <a:srgbClr val="1E1E32"/>
          </a:solidFill>
          <a:ln w="12700">
            <a:solidFill>
              <a:srgbClr val="282845"/>
            </a:solidFill>
            <a:prstDash val="solid"/>
          </a:ln>
        </p:spPr>
      </p:sp>
      <p:sp>
        <p:nvSpPr>
          <p:cNvPr id="5" name="Text 3"/>
          <p:cNvSpPr/>
          <p:nvPr/>
        </p:nvSpPr>
        <p:spPr>
          <a:xfrm>
            <a:off x="530352" y="1645920"/>
            <a:ext cx="2468880" cy="566928"/>
          </a:xfrm>
          <a:prstGeom prst="rect">
            <a:avLst/>
          </a:prstGeom>
          <a:noFill/>
          <a:ln/>
        </p:spPr>
        <p:txBody>
          <a:bodyPr wrap="square" rtlCol="0" anchor="ctr"/>
          <a:lstStyle/>
          <a:p>
            <a:pPr marL="0" indent="0">
              <a:buNone/>
            </a:pPr>
            <a:r>
              <a:rPr lang="en-US" sz="2800" b="1" dirty="0">
                <a:solidFill>
                  <a:srgbClr val="C8F064"/>
                </a:solidFill>
                <a:latin typeface="Trebuchet MS" pitchFamily="34" charset="0"/>
                <a:ea typeface="Trebuchet MS" pitchFamily="34" charset="-122"/>
                <a:cs typeface="Trebuchet MS" pitchFamily="34" charset="-120"/>
              </a:rPr>
              <a:t>₦350k</a:t>
            </a:r>
            <a:endParaRPr lang="en-US" sz="2800" dirty="0"/>
          </a:p>
        </p:txBody>
      </p:sp>
      <p:sp>
        <p:nvSpPr>
          <p:cNvPr id="6" name="Text 4"/>
          <p:cNvSpPr/>
          <p:nvPr/>
        </p:nvSpPr>
        <p:spPr>
          <a:xfrm>
            <a:off x="530352" y="2212848"/>
            <a:ext cx="2468880" cy="237744"/>
          </a:xfrm>
          <a:prstGeom prst="rect">
            <a:avLst/>
          </a:prstGeom>
          <a:noFill/>
          <a:ln/>
        </p:spPr>
        <p:txBody>
          <a:bodyPr wrap="square" rtlCol="0" anchor="ctr"/>
          <a:lstStyle/>
          <a:p>
            <a:pPr marL="0" indent="0">
              <a:buNone/>
            </a:pPr>
            <a:r>
              <a:rPr lang="en-US" sz="1000" i="1" dirty="0">
                <a:solidFill>
                  <a:srgbClr val="8A8AA8"/>
                </a:solidFill>
                <a:latin typeface="Calibri" pitchFamily="34" charset="0"/>
                <a:ea typeface="Calibri" pitchFamily="34" charset="-122"/>
                <a:cs typeface="Calibri" pitchFamily="34" charset="-120"/>
              </a:rPr>
              <a:t>project</a:t>
            </a:r>
            <a:endParaRPr lang="en-US" sz="1000" dirty="0"/>
          </a:p>
        </p:txBody>
      </p:sp>
      <p:sp>
        <p:nvSpPr>
          <p:cNvPr id="7" name="Text 5"/>
          <p:cNvSpPr/>
          <p:nvPr/>
        </p:nvSpPr>
        <p:spPr>
          <a:xfrm>
            <a:off x="530352" y="2487168"/>
            <a:ext cx="2468880" cy="320040"/>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WhatsApp lead qualifier</a:t>
            </a:r>
            <a:endParaRPr lang="en-US" sz="1300" dirty="0"/>
          </a:p>
        </p:txBody>
      </p:sp>
      <p:sp>
        <p:nvSpPr>
          <p:cNvPr id="8" name="Shape 6"/>
          <p:cNvSpPr/>
          <p:nvPr/>
        </p:nvSpPr>
        <p:spPr>
          <a:xfrm>
            <a:off x="530352" y="2834640"/>
            <a:ext cx="2450592" cy="0"/>
          </a:xfrm>
          <a:prstGeom prst="line">
            <a:avLst/>
          </a:prstGeom>
          <a:noFill/>
          <a:ln w="10160">
            <a:solidFill>
              <a:srgbClr val="282845"/>
            </a:solidFill>
            <a:prstDash val="solid"/>
          </a:ln>
        </p:spPr>
      </p:sp>
      <p:sp>
        <p:nvSpPr>
          <p:cNvPr id="9" name="Text 7"/>
          <p:cNvSpPr/>
          <p:nvPr/>
        </p:nvSpPr>
        <p:spPr>
          <a:xfrm>
            <a:off x="530352" y="2926080"/>
            <a:ext cx="2468880" cy="777240"/>
          </a:xfrm>
          <a:prstGeom prst="rect">
            <a:avLst/>
          </a:prstGeom>
          <a:noFill/>
          <a:ln/>
        </p:spPr>
        <p:txBody>
          <a:bodyPr wrap="square" rtlCol="0" anchor="ctr"/>
          <a:lstStyle/>
          <a:p>
            <a:pPr marL="0" indent="0">
              <a:buNone/>
            </a:pPr>
            <a:r>
              <a:rPr lang="en-US" sz="1050" dirty="0">
                <a:solidFill>
                  <a:srgbClr val="8A8AA8"/>
                </a:solidFill>
                <a:latin typeface="Calibri" pitchFamily="34" charset="0"/>
                <a:ea typeface="Calibri" pitchFamily="34" charset="-122"/>
                <a:cs typeface="Calibri" pitchFamily="34" charset="-120"/>
              </a:rPr>
              <a:t>AI that pre-qualifies leads 24/7 before they reach the sales team. Replaces a part-time staff role.</a:t>
            </a:r>
            <a:endParaRPr lang="en-US" sz="1050" dirty="0"/>
          </a:p>
        </p:txBody>
      </p:sp>
      <p:sp>
        <p:nvSpPr>
          <p:cNvPr id="10" name="Shape 8"/>
          <p:cNvSpPr/>
          <p:nvPr/>
        </p:nvSpPr>
        <p:spPr>
          <a:xfrm>
            <a:off x="3310128" y="1508760"/>
            <a:ext cx="2743200" cy="2286000"/>
          </a:xfrm>
          <a:prstGeom prst="rect">
            <a:avLst/>
          </a:prstGeom>
          <a:solidFill>
            <a:srgbClr val="1E1E32"/>
          </a:solidFill>
          <a:ln w="12700">
            <a:solidFill>
              <a:srgbClr val="282845"/>
            </a:solidFill>
            <a:prstDash val="solid"/>
          </a:ln>
        </p:spPr>
      </p:sp>
      <p:sp>
        <p:nvSpPr>
          <p:cNvPr id="11" name="Text 9"/>
          <p:cNvSpPr/>
          <p:nvPr/>
        </p:nvSpPr>
        <p:spPr>
          <a:xfrm>
            <a:off x="3456432" y="1645920"/>
            <a:ext cx="2468880" cy="566928"/>
          </a:xfrm>
          <a:prstGeom prst="rect">
            <a:avLst/>
          </a:prstGeom>
          <a:noFill/>
          <a:ln/>
        </p:spPr>
        <p:txBody>
          <a:bodyPr wrap="square" rtlCol="0" anchor="ctr"/>
          <a:lstStyle/>
          <a:p>
            <a:pPr marL="0" indent="0">
              <a:buNone/>
            </a:pPr>
            <a:r>
              <a:rPr lang="en-US" sz="2800" b="1" dirty="0">
                <a:solidFill>
                  <a:srgbClr val="C8F064"/>
                </a:solidFill>
                <a:latin typeface="Trebuchet MS" pitchFamily="34" charset="0"/>
                <a:ea typeface="Trebuchet MS" pitchFamily="34" charset="-122"/>
                <a:cs typeface="Trebuchet MS" pitchFamily="34" charset="-120"/>
              </a:rPr>
              <a:t>₦200k</a:t>
            </a:r>
            <a:endParaRPr lang="en-US" sz="2800" dirty="0"/>
          </a:p>
        </p:txBody>
      </p:sp>
      <p:sp>
        <p:nvSpPr>
          <p:cNvPr id="12" name="Text 10"/>
          <p:cNvSpPr/>
          <p:nvPr/>
        </p:nvSpPr>
        <p:spPr>
          <a:xfrm>
            <a:off x="3456432" y="2212848"/>
            <a:ext cx="2468880" cy="237744"/>
          </a:xfrm>
          <a:prstGeom prst="rect">
            <a:avLst/>
          </a:prstGeom>
          <a:noFill/>
          <a:ln/>
        </p:spPr>
        <p:txBody>
          <a:bodyPr wrap="square" rtlCol="0" anchor="ctr"/>
          <a:lstStyle/>
          <a:p>
            <a:pPr marL="0" indent="0">
              <a:buNone/>
            </a:pPr>
            <a:r>
              <a:rPr lang="en-US" sz="1000" i="1" dirty="0">
                <a:solidFill>
                  <a:srgbClr val="8A8AA8"/>
                </a:solidFill>
                <a:latin typeface="Calibri" pitchFamily="34" charset="0"/>
                <a:ea typeface="Calibri" pitchFamily="34" charset="-122"/>
                <a:cs typeface="Calibri" pitchFamily="34" charset="-120"/>
              </a:rPr>
              <a:t>retainer/mo</a:t>
            </a:r>
            <a:endParaRPr lang="en-US" sz="1000" dirty="0"/>
          </a:p>
        </p:txBody>
      </p:sp>
      <p:sp>
        <p:nvSpPr>
          <p:cNvPr id="13" name="Text 11"/>
          <p:cNvSpPr/>
          <p:nvPr/>
        </p:nvSpPr>
        <p:spPr>
          <a:xfrm>
            <a:off x="3456432" y="2487168"/>
            <a:ext cx="2468880" cy="320040"/>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Booking automation</a:t>
            </a:r>
            <a:endParaRPr lang="en-US" sz="1300" dirty="0"/>
          </a:p>
        </p:txBody>
      </p:sp>
      <p:sp>
        <p:nvSpPr>
          <p:cNvPr id="14" name="Shape 12"/>
          <p:cNvSpPr/>
          <p:nvPr/>
        </p:nvSpPr>
        <p:spPr>
          <a:xfrm>
            <a:off x="3456432" y="2834640"/>
            <a:ext cx="2450592" cy="0"/>
          </a:xfrm>
          <a:prstGeom prst="line">
            <a:avLst/>
          </a:prstGeom>
          <a:noFill/>
          <a:ln w="10160">
            <a:solidFill>
              <a:srgbClr val="282845"/>
            </a:solidFill>
            <a:prstDash val="solid"/>
          </a:ln>
        </p:spPr>
      </p:sp>
      <p:sp>
        <p:nvSpPr>
          <p:cNvPr id="15" name="Text 13"/>
          <p:cNvSpPr/>
          <p:nvPr/>
        </p:nvSpPr>
        <p:spPr>
          <a:xfrm>
            <a:off x="3456432" y="2926080"/>
            <a:ext cx="2468880" cy="777240"/>
          </a:xfrm>
          <a:prstGeom prst="rect">
            <a:avLst/>
          </a:prstGeom>
          <a:noFill/>
          <a:ln/>
        </p:spPr>
        <p:txBody>
          <a:bodyPr wrap="square" rtlCol="0" anchor="ctr"/>
          <a:lstStyle/>
          <a:p>
            <a:pPr marL="0" indent="0">
              <a:buNone/>
            </a:pPr>
            <a:r>
              <a:rPr lang="en-US" sz="1050" dirty="0">
                <a:solidFill>
                  <a:srgbClr val="8A8AA8"/>
                </a:solidFill>
                <a:latin typeface="Calibri" pitchFamily="34" charset="0"/>
                <a:ea typeface="Calibri" pitchFamily="34" charset="-122"/>
                <a:cs typeface="Calibri" pitchFamily="34" charset="-120"/>
              </a:rPr>
              <a:t>Appointment booking + timed email reminders. Set once, runs indefinitely. Pure passive value.</a:t>
            </a:r>
            <a:endParaRPr lang="en-US" sz="1050" dirty="0"/>
          </a:p>
        </p:txBody>
      </p:sp>
      <p:sp>
        <p:nvSpPr>
          <p:cNvPr id="16" name="Shape 14"/>
          <p:cNvSpPr/>
          <p:nvPr/>
        </p:nvSpPr>
        <p:spPr>
          <a:xfrm>
            <a:off x="6236208" y="1508760"/>
            <a:ext cx="2743200" cy="2286000"/>
          </a:xfrm>
          <a:prstGeom prst="rect">
            <a:avLst/>
          </a:prstGeom>
          <a:solidFill>
            <a:srgbClr val="1E1E32"/>
          </a:solidFill>
          <a:ln w="12700">
            <a:solidFill>
              <a:srgbClr val="282845"/>
            </a:solidFill>
            <a:prstDash val="solid"/>
          </a:ln>
        </p:spPr>
      </p:sp>
      <p:sp>
        <p:nvSpPr>
          <p:cNvPr id="17" name="Text 15"/>
          <p:cNvSpPr/>
          <p:nvPr/>
        </p:nvSpPr>
        <p:spPr>
          <a:xfrm>
            <a:off x="6382512" y="1645920"/>
            <a:ext cx="2468880" cy="566928"/>
          </a:xfrm>
          <a:prstGeom prst="rect">
            <a:avLst/>
          </a:prstGeom>
          <a:noFill/>
          <a:ln/>
        </p:spPr>
        <p:txBody>
          <a:bodyPr wrap="square" rtlCol="0" anchor="ctr"/>
          <a:lstStyle/>
          <a:p>
            <a:pPr marL="0" indent="0">
              <a:buNone/>
            </a:pPr>
            <a:r>
              <a:rPr lang="en-US" sz="2800" b="1" dirty="0">
                <a:solidFill>
                  <a:srgbClr val="C8F064"/>
                </a:solidFill>
                <a:latin typeface="Trebuchet MS" pitchFamily="34" charset="0"/>
                <a:ea typeface="Trebuchet MS" pitchFamily="34" charset="-122"/>
                <a:cs typeface="Trebuchet MS" pitchFamily="34" charset="-120"/>
              </a:rPr>
              <a:t>₦500k+</a:t>
            </a:r>
            <a:endParaRPr lang="en-US" sz="2800" dirty="0"/>
          </a:p>
        </p:txBody>
      </p:sp>
      <p:sp>
        <p:nvSpPr>
          <p:cNvPr id="18" name="Text 16"/>
          <p:cNvSpPr/>
          <p:nvPr/>
        </p:nvSpPr>
        <p:spPr>
          <a:xfrm>
            <a:off x="6382512" y="2212848"/>
            <a:ext cx="2468880" cy="237744"/>
          </a:xfrm>
          <a:prstGeom prst="rect">
            <a:avLst/>
          </a:prstGeom>
          <a:noFill/>
          <a:ln/>
        </p:spPr>
        <p:txBody>
          <a:bodyPr wrap="square" rtlCol="0" anchor="ctr"/>
          <a:lstStyle/>
          <a:p>
            <a:pPr marL="0" indent="0">
              <a:buNone/>
            </a:pPr>
            <a:r>
              <a:rPr lang="en-US" sz="1000" i="1" dirty="0">
                <a:solidFill>
                  <a:srgbClr val="8A8AA8"/>
                </a:solidFill>
                <a:latin typeface="Calibri" pitchFamily="34" charset="0"/>
                <a:ea typeface="Calibri" pitchFamily="34" charset="-122"/>
                <a:cs typeface="Calibri" pitchFamily="34" charset="-120"/>
              </a:rPr>
              <a:t>project</a:t>
            </a:r>
            <a:endParaRPr lang="en-US" sz="1000" dirty="0"/>
          </a:p>
        </p:txBody>
      </p:sp>
      <p:sp>
        <p:nvSpPr>
          <p:cNvPr id="19" name="Text 17"/>
          <p:cNvSpPr/>
          <p:nvPr/>
        </p:nvSpPr>
        <p:spPr>
          <a:xfrm>
            <a:off x="6382512" y="2487168"/>
            <a:ext cx="2468880" cy="320040"/>
          </a:xfrm>
          <a:prstGeom prst="rect">
            <a:avLst/>
          </a:prstGeom>
          <a:noFill/>
          <a:ln/>
        </p:spPr>
        <p:txBody>
          <a:bodyPr wrap="square"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AI sales chatbot</a:t>
            </a:r>
            <a:endParaRPr lang="en-US" sz="1300" dirty="0"/>
          </a:p>
        </p:txBody>
      </p:sp>
      <p:sp>
        <p:nvSpPr>
          <p:cNvPr id="20" name="Shape 18"/>
          <p:cNvSpPr/>
          <p:nvPr/>
        </p:nvSpPr>
        <p:spPr>
          <a:xfrm>
            <a:off x="6382512" y="2834640"/>
            <a:ext cx="2450592" cy="0"/>
          </a:xfrm>
          <a:prstGeom prst="line">
            <a:avLst/>
          </a:prstGeom>
          <a:noFill/>
          <a:ln w="10160">
            <a:solidFill>
              <a:srgbClr val="282845"/>
            </a:solidFill>
            <a:prstDash val="solid"/>
          </a:ln>
        </p:spPr>
      </p:sp>
      <p:sp>
        <p:nvSpPr>
          <p:cNvPr id="21" name="Text 19"/>
          <p:cNvSpPr/>
          <p:nvPr/>
        </p:nvSpPr>
        <p:spPr>
          <a:xfrm>
            <a:off x="6382512" y="2926080"/>
            <a:ext cx="2468880" cy="777240"/>
          </a:xfrm>
          <a:prstGeom prst="rect">
            <a:avLst/>
          </a:prstGeom>
          <a:noFill/>
          <a:ln/>
        </p:spPr>
        <p:txBody>
          <a:bodyPr wrap="square" rtlCol="0" anchor="ctr"/>
          <a:lstStyle/>
          <a:p>
            <a:pPr marL="0" indent="0">
              <a:buNone/>
            </a:pPr>
            <a:r>
              <a:rPr lang="en-US" sz="1050" dirty="0">
                <a:solidFill>
                  <a:srgbClr val="8A8AA8"/>
                </a:solidFill>
                <a:latin typeface="Calibri" pitchFamily="34" charset="0"/>
                <a:ea typeface="Calibri" pitchFamily="34" charset="-122"/>
                <a:cs typeface="Calibri" pitchFamily="34" charset="-120"/>
              </a:rPr>
              <a:t>E-commerce assistant with live inventory sync. Handles FAQs, qualifies buyers, escalates to human.</a:t>
            </a:r>
            <a:endParaRPr lang="en-US" sz="1050" dirty="0"/>
          </a:p>
        </p:txBody>
      </p:sp>
      <p:sp>
        <p:nvSpPr>
          <p:cNvPr id="22" name="Shape 20"/>
          <p:cNvSpPr/>
          <p:nvPr/>
        </p:nvSpPr>
        <p:spPr>
          <a:xfrm>
            <a:off x="384048" y="3977640"/>
            <a:ext cx="8375904" cy="804672"/>
          </a:xfrm>
          <a:prstGeom prst="rect">
            <a:avLst/>
          </a:prstGeom>
          <a:solidFill>
            <a:srgbClr val="0E0E1E"/>
          </a:solidFill>
          <a:ln w="10160">
            <a:solidFill>
              <a:srgbClr val="252540"/>
            </a:solidFill>
            <a:prstDash val="solid"/>
          </a:ln>
        </p:spPr>
      </p:sp>
      <p:sp>
        <p:nvSpPr>
          <p:cNvPr id="23" name="Text 21"/>
          <p:cNvSpPr/>
          <p:nvPr/>
        </p:nvSpPr>
        <p:spPr>
          <a:xfrm>
            <a:off x="548640" y="4087368"/>
            <a:ext cx="1828800" cy="256032"/>
          </a:xfrm>
          <a:prstGeom prst="rect">
            <a:avLst/>
          </a:prstGeom>
          <a:noFill/>
          <a:ln/>
        </p:spPr>
        <p:txBody>
          <a:bodyPr wrap="square" rtlCol="0" anchor="ctr"/>
          <a:lstStyle/>
          <a:p>
            <a:pPr marL="0" indent="0">
              <a:buNone/>
            </a:pPr>
            <a:r>
              <a:rPr lang="en-US" sz="1100" b="1" dirty="0">
                <a:solidFill>
                  <a:srgbClr val="C8F064"/>
                </a:solidFill>
                <a:latin typeface="Trebuchet MS" pitchFamily="34" charset="0"/>
                <a:ea typeface="Trebuchet MS" pitchFamily="34" charset="-122"/>
                <a:cs typeface="Trebuchet MS" pitchFamily="34" charset="-120"/>
              </a:rPr>
              <a:t>Common profile:</a:t>
            </a:r>
            <a:endParaRPr lang="en-US" sz="1100" dirty="0"/>
          </a:p>
        </p:txBody>
      </p:sp>
      <p:sp>
        <p:nvSpPr>
          <p:cNvPr id="24" name="Text 22"/>
          <p:cNvSpPr/>
          <p:nvPr/>
        </p:nvSpPr>
        <p:spPr>
          <a:xfrm>
            <a:off x="2331720" y="4087368"/>
            <a:ext cx="6400800" cy="548640"/>
          </a:xfrm>
          <a:prstGeom prst="rect">
            <a:avLst/>
          </a:prstGeom>
          <a:noFill/>
          <a:ln/>
        </p:spPr>
        <p:txBody>
          <a:bodyPr wrap="square" rtlCol="0" anchor="ctr"/>
          <a:lstStyle/>
          <a:p>
            <a:pPr marL="0" indent="0">
              <a:buNone/>
            </a:pPr>
            <a:r>
              <a:rPr lang="en-US" sz="1100" dirty="0">
                <a:solidFill>
                  <a:srgbClr val="8A8AA8"/>
                </a:solidFill>
                <a:latin typeface="Calibri" pitchFamily="34" charset="0"/>
                <a:ea typeface="Calibri" pitchFamily="34" charset="-122"/>
                <a:cs typeface="Calibri" pitchFamily="34" charset="-120"/>
              </a:rPr>
              <a:t>Problem-first thinkers, not tool collectors. They find out what a business needs, then choose the tool - not the other way around.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5486400" cy="256032"/>
          </a:xfrm>
          <a:prstGeom prst="rect">
            <a:avLst/>
          </a:prstGeom>
          <a:noFill/>
          <a:ln/>
        </p:spPr>
        <p:txBody>
          <a:bodyPr wrap="square" rtlCol="0" anchor="ctr"/>
          <a:lstStyle/>
          <a:p>
            <a:pPr marL="0" indent="0">
              <a:buNone/>
            </a:pPr>
            <a:r>
              <a:rPr lang="en-US" sz="1000" b="1" kern="0" spc="500" dirty="0">
                <a:solidFill>
                  <a:srgbClr val="7A9A20"/>
                </a:solidFill>
                <a:latin typeface="Trebuchet MS" pitchFamily="34" charset="0"/>
                <a:ea typeface="Trebuchet MS" pitchFamily="34" charset="-122"/>
                <a:cs typeface="Trebuchet MS" pitchFamily="34" charset="-120"/>
              </a:rPr>
              <a:t>SESSION  02</a:t>
            </a:r>
            <a:endParaRPr lang="en-US" sz="1000" dirty="0"/>
          </a:p>
        </p:txBody>
      </p:sp>
      <p:sp>
        <p:nvSpPr>
          <p:cNvPr id="3" name="Text 1"/>
          <p:cNvSpPr/>
          <p:nvPr/>
        </p:nvSpPr>
        <p:spPr>
          <a:xfrm>
            <a:off x="457200" y="566928"/>
            <a:ext cx="8229600" cy="658368"/>
          </a:xfrm>
          <a:prstGeom prst="rect">
            <a:avLst/>
          </a:prstGeom>
          <a:noFill/>
          <a:ln/>
        </p:spPr>
        <p:txBody>
          <a:bodyPr wrap="square" rtlCol="0" anchor="ctr"/>
          <a:lstStyle/>
          <a:p>
            <a:pPr marL="0" indent="0">
              <a:buNone/>
            </a:pPr>
            <a:r>
              <a:rPr lang="en-US" sz="2600" b="1" dirty="0">
                <a:solidFill>
                  <a:srgbClr val="0C0C14"/>
                </a:solidFill>
                <a:latin typeface="Trebuchet MS" pitchFamily="34" charset="0"/>
                <a:ea typeface="Trebuchet MS" pitchFamily="34" charset="-122"/>
                <a:cs typeface="Trebuchet MS" pitchFamily="34" charset="-120"/>
              </a:rPr>
              <a:t>Entry requirements &amp; the Accelerator stack</a:t>
            </a:r>
            <a:endParaRPr lang="en-US" sz="2600" dirty="0"/>
          </a:p>
        </p:txBody>
      </p:sp>
      <p:sp>
        <p:nvSpPr>
          <p:cNvPr id="4" name="Text 2"/>
          <p:cNvSpPr/>
          <p:nvPr/>
        </p:nvSpPr>
        <p:spPr>
          <a:xfrm>
            <a:off x="457200" y="2011680"/>
            <a:ext cx="3200400" cy="256032"/>
          </a:xfrm>
          <a:prstGeom prst="rect">
            <a:avLst/>
          </a:prstGeom>
          <a:noFill/>
          <a:ln/>
        </p:spPr>
        <p:txBody>
          <a:bodyPr wrap="square" rtlCol="0" anchor="ctr"/>
          <a:lstStyle/>
          <a:p>
            <a:pPr marL="0" indent="0">
              <a:buNone/>
            </a:pPr>
            <a:r>
              <a:rPr lang="en-US" sz="900" b="1" kern="0" spc="400" dirty="0">
                <a:solidFill>
                  <a:srgbClr val="6B6B82"/>
                </a:solidFill>
                <a:latin typeface="Trebuchet MS" pitchFamily="34" charset="0"/>
                <a:ea typeface="Trebuchet MS" pitchFamily="34" charset="-122"/>
                <a:cs typeface="Trebuchet MS" pitchFamily="34" charset="-120"/>
              </a:rPr>
              <a:t>MUST-HAVES</a:t>
            </a:r>
            <a:endParaRPr lang="en-US" sz="900" dirty="0"/>
          </a:p>
        </p:txBody>
      </p:sp>
      <p:sp>
        <p:nvSpPr>
          <p:cNvPr id="5" name="Shape 3"/>
          <p:cNvSpPr/>
          <p:nvPr/>
        </p:nvSpPr>
        <p:spPr>
          <a:xfrm>
            <a:off x="457200" y="2350008"/>
            <a:ext cx="164592" cy="164592"/>
          </a:xfrm>
          <a:prstGeom prst="ellipse">
            <a:avLst/>
          </a:prstGeom>
          <a:solidFill>
            <a:srgbClr val="C8F064"/>
          </a:solidFill>
          <a:ln w="12700">
            <a:solidFill>
              <a:srgbClr val="C8F064"/>
            </a:solidFill>
            <a:prstDash val="solid"/>
          </a:ln>
        </p:spPr>
        <p:txBody>
          <a:bodyPr/>
          <a:p/>
        </p:txBody>
      </p:sp>
      <p:sp>
        <p:nvSpPr>
          <p:cNvPr id="6" name="Text 4"/>
          <p:cNvSpPr/>
          <p:nvPr/>
        </p:nvSpPr>
        <p:spPr>
          <a:xfrm>
            <a:off x="713232" y="2313432"/>
            <a:ext cx="2560320" cy="274320"/>
          </a:xfrm>
          <a:prstGeom prst="rect">
            <a:avLst/>
          </a:prstGeom>
          <a:noFill/>
          <a:ln/>
        </p:spPr>
        <p:txBody>
          <a:bodyPr wrap="square" rtlCol="0" anchor="ctr"/>
          <a:lstStyle/>
          <a:p>
            <a:pPr marL="0" indent="0">
              <a:buNone/>
            </a:pPr>
            <a:r>
              <a:rPr lang="en-US" sz="1200" dirty="0">
                <a:solidFill>
                  <a:srgbClr val="0C0C14"/>
                </a:solidFill>
                <a:latin typeface="Calibri" pitchFamily="34" charset="0"/>
                <a:ea typeface="Calibri" pitchFamily="34" charset="-122"/>
                <a:cs typeface="Calibri" pitchFamily="34" charset="-120"/>
              </a:rPr>
              <a:t>Logical thinking</a:t>
            </a:r>
            <a:endParaRPr lang="en-US" sz="1200" dirty="0"/>
          </a:p>
        </p:txBody>
      </p:sp>
      <p:sp>
        <p:nvSpPr>
          <p:cNvPr id="7" name="Shape 5"/>
          <p:cNvSpPr/>
          <p:nvPr/>
        </p:nvSpPr>
        <p:spPr>
          <a:xfrm>
            <a:off x="457200" y="2770632"/>
            <a:ext cx="164592" cy="164592"/>
          </a:xfrm>
          <a:prstGeom prst="ellipse">
            <a:avLst/>
          </a:prstGeom>
          <a:solidFill>
            <a:srgbClr val="C8F064"/>
          </a:solidFill>
          <a:ln w="12700">
            <a:solidFill>
              <a:srgbClr val="C8F064"/>
            </a:solidFill>
            <a:prstDash val="solid"/>
          </a:ln>
        </p:spPr>
        <p:txBody>
          <a:bodyPr/>
          <a:p/>
        </p:txBody>
      </p:sp>
      <p:sp>
        <p:nvSpPr>
          <p:cNvPr id="8" name="Text 6"/>
          <p:cNvSpPr/>
          <p:nvPr/>
        </p:nvSpPr>
        <p:spPr>
          <a:xfrm>
            <a:off x="713232" y="2734056"/>
            <a:ext cx="2560320" cy="274320"/>
          </a:xfrm>
          <a:prstGeom prst="rect">
            <a:avLst/>
          </a:prstGeom>
          <a:noFill/>
          <a:ln/>
        </p:spPr>
        <p:txBody>
          <a:bodyPr wrap="square" rtlCol="0" anchor="ctr"/>
          <a:lstStyle/>
          <a:p>
            <a:pPr marL="0" indent="0">
              <a:buNone/>
            </a:pPr>
            <a:r>
              <a:rPr lang="en-US" sz="1200" dirty="0">
                <a:solidFill>
                  <a:srgbClr val="0C0C14"/>
                </a:solidFill>
                <a:latin typeface="Calibri" pitchFamily="34" charset="0"/>
                <a:ea typeface="Calibri" pitchFamily="34" charset="-122"/>
                <a:cs typeface="Calibri" pitchFamily="34" charset="-120"/>
              </a:rPr>
              <a:t>Following instructions</a:t>
            </a:r>
            <a:endParaRPr lang="en-US" sz="1200" dirty="0"/>
          </a:p>
        </p:txBody>
      </p:sp>
      <p:sp>
        <p:nvSpPr>
          <p:cNvPr id="9" name="Shape 7"/>
          <p:cNvSpPr/>
          <p:nvPr/>
        </p:nvSpPr>
        <p:spPr>
          <a:xfrm>
            <a:off x="457200" y="3191256"/>
            <a:ext cx="164592" cy="164592"/>
          </a:xfrm>
          <a:prstGeom prst="ellipse">
            <a:avLst/>
          </a:prstGeom>
          <a:solidFill>
            <a:srgbClr val="C8F064"/>
          </a:solidFill>
          <a:ln w="12700">
            <a:solidFill>
              <a:srgbClr val="C8F064"/>
            </a:solidFill>
            <a:prstDash val="solid"/>
          </a:ln>
        </p:spPr>
        <p:txBody>
          <a:bodyPr/>
          <a:p/>
        </p:txBody>
      </p:sp>
      <p:sp>
        <p:nvSpPr>
          <p:cNvPr id="10" name="Text 8"/>
          <p:cNvSpPr/>
          <p:nvPr/>
        </p:nvSpPr>
        <p:spPr>
          <a:xfrm>
            <a:off x="713232" y="3154680"/>
            <a:ext cx="2560320" cy="274320"/>
          </a:xfrm>
          <a:prstGeom prst="rect">
            <a:avLst/>
          </a:prstGeom>
          <a:noFill/>
          <a:ln/>
        </p:spPr>
        <p:txBody>
          <a:bodyPr wrap="square" rtlCol="0" anchor="ctr"/>
          <a:lstStyle/>
          <a:p>
            <a:pPr marL="0" indent="0">
              <a:buNone/>
            </a:pPr>
            <a:r>
              <a:rPr lang="en-US" sz="1200" dirty="0">
                <a:solidFill>
                  <a:srgbClr val="0C0C14"/>
                </a:solidFill>
                <a:latin typeface="Calibri" pitchFamily="34" charset="0"/>
                <a:ea typeface="Calibri" pitchFamily="34" charset="-122"/>
                <a:cs typeface="Calibri" pitchFamily="34" charset="-120"/>
              </a:rPr>
              <a:t>Client communication</a:t>
            </a:r>
            <a:endParaRPr lang="en-US" sz="1200" dirty="0"/>
          </a:p>
        </p:txBody>
      </p:sp>
      <p:sp>
        <p:nvSpPr>
          <p:cNvPr id="11" name="Shape 9"/>
          <p:cNvSpPr/>
          <p:nvPr/>
        </p:nvSpPr>
        <p:spPr>
          <a:xfrm>
            <a:off x="3657600" y="1280160"/>
            <a:ext cx="1719072" cy="3566160"/>
          </a:xfrm>
          <a:prstGeom prst="rect">
            <a:avLst/>
          </a:prstGeom>
          <a:solidFill>
            <a:srgbClr val="F0FAF0"/>
          </a:solidFill>
          <a:ln w="10160">
            <a:solidFill>
              <a:srgbClr val="A0D4A0"/>
            </a:solidFill>
            <a:prstDash val="solid"/>
          </a:ln>
        </p:spPr>
        <p:txBody>
          <a:bodyPr/>
          <a:p/>
        </p:txBody>
      </p:sp>
      <p:sp>
        <p:nvSpPr>
          <p:cNvPr id="12" name="Shape 10"/>
          <p:cNvSpPr/>
          <p:nvPr/>
        </p:nvSpPr>
        <p:spPr>
          <a:xfrm>
            <a:off x="3657600" y="1280160"/>
            <a:ext cx="1719072" cy="402336"/>
          </a:xfrm>
          <a:prstGeom prst="rect">
            <a:avLst/>
          </a:prstGeom>
          <a:solidFill>
            <a:srgbClr val="B8E8B8"/>
          </a:solidFill>
          <a:ln w="12700">
            <a:solidFill>
              <a:srgbClr val="A0D4A0"/>
            </a:solidFill>
            <a:prstDash val="solid"/>
          </a:ln>
        </p:spPr>
        <p:txBody>
          <a:bodyPr/>
          <a:p/>
        </p:txBody>
      </p:sp>
      <p:sp>
        <p:nvSpPr>
          <p:cNvPr id="13" name="Text 11"/>
          <p:cNvSpPr/>
          <p:nvPr/>
        </p:nvSpPr>
        <p:spPr>
          <a:xfrm>
            <a:off x="3657600" y="1280160"/>
            <a:ext cx="1719072" cy="402336"/>
          </a:xfrm>
          <a:prstGeom prst="rect">
            <a:avLst/>
          </a:prstGeom>
          <a:noFill/>
          <a:ln/>
        </p:spPr>
        <p:txBody>
          <a:bodyPr wrap="square" lIns="0" tIns="0" rIns="0" bIns="0" rtlCol="0" anchor="ctr"/>
          <a:lstStyle/>
          <a:p>
            <a:pPr marL="0" indent="0" algn="ctr">
              <a:buNone/>
            </a:pPr>
            <a:r>
              <a:rPr lang="en-US" sz="1100" b="1" dirty="0">
                <a:solidFill>
                  <a:srgbClr val="0C0C14"/>
                </a:solidFill>
                <a:latin typeface="Trebuchet MS" pitchFamily="34" charset="0"/>
                <a:ea typeface="Trebuchet MS" pitchFamily="34" charset="-122"/>
                <a:cs typeface="Trebuchet MS" pitchFamily="34" charset="-120"/>
              </a:rPr>
              <a:t>Start free</a:t>
            </a:r>
            <a:endParaRPr lang="en-US" sz="1100" dirty="0"/>
          </a:p>
        </p:txBody>
      </p:sp>
      <p:sp>
        <p:nvSpPr>
          <p:cNvPr id="14" name="Text 12"/>
          <p:cNvSpPr/>
          <p:nvPr/>
        </p:nvSpPr>
        <p:spPr>
          <a:xfrm>
            <a:off x="3767328" y="1737360"/>
            <a:ext cx="1508760" cy="502920"/>
          </a:xfrm>
          <a:prstGeom prst="rect">
            <a:avLst/>
          </a:prstGeom>
          <a:noFill/>
          <a:ln/>
        </p:spPr>
        <p:txBody>
          <a:bodyPr wrap="square" rtlCol="0" anchor="ctr"/>
          <a:lstStyle/>
          <a:p>
            <a:pPr marL="0" indent="0">
              <a:buNone/>
            </a:pPr>
            <a:r>
              <a:rPr lang="en-US" sz="1050" dirty="0">
                <a:solidFill>
                  <a:srgbClr val="0C0C14"/>
                </a:solidFill>
                <a:latin typeface="Calibri" pitchFamily="34" charset="0"/>
                <a:ea typeface="Calibri" pitchFamily="34" charset="-122"/>
                <a:cs typeface="Calibri" pitchFamily="34" charset="-120"/>
              </a:rPr>
              <a:t>n8n</a:t>
            </a:r>
            <a:endParaRPr lang="en-US" sz="1050" dirty="0"/>
          </a:p>
        </p:txBody>
      </p:sp>
      <p:sp>
        <p:nvSpPr>
          <p:cNvPr id="15" name="Shape 13"/>
          <p:cNvSpPr/>
          <p:nvPr/>
        </p:nvSpPr>
        <p:spPr>
          <a:xfrm>
            <a:off x="3730752" y="2249424"/>
            <a:ext cx="1572768" cy="0"/>
          </a:xfrm>
          <a:prstGeom prst="line">
            <a:avLst/>
          </a:prstGeom>
          <a:noFill/>
          <a:ln w="5080">
            <a:solidFill>
              <a:srgbClr val="A0D4A0"/>
            </a:solidFill>
            <a:prstDash val="solid"/>
          </a:ln>
        </p:spPr>
        <p:txBody>
          <a:bodyPr/>
          <a:p/>
        </p:txBody>
      </p:sp>
      <p:sp>
        <p:nvSpPr>
          <p:cNvPr id="16" name="Text 14"/>
          <p:cNvSpPr/>
          <p:nvPr/>
        </p:nvSpPr>
        <p:spPr>
          <a:xfrm>
            <a:off x="3767328" y="2304288"/>
            <a:ext cx="1508760" cy="502920"/>
          </a:xfrm>
          <a:prstGeom prst="rect">
            <a:avLst/>
          </a:prstGeom>
          <a:noFill/>
          <a:ln/>
        </p:spPr>
        <p:txBody>
          <a:bodyPr wrap="square" rtlCol="0" anchor="ctr"/>
          <a:lstStyle/>
          <a:p>
            <a:pPr marL="0" indent="0">
              <a:buNone/>
            </a:pPr>
            <a:r>
              <a:rPr lang="en-US" sz="1050" dirty="0">
                <a:solidFill>
                  <a:srgbClr val="0C0C14"/>
                </a:solidFill>
                <a:latin typeface="Calibri" pitchFamily="34" charset="0"/>
                <a:ea typeface="Calibri" pitchFamily="34" charset="-122"/>
                <a:cs typeface="Calibri" pitchFamily="34" charset="-120"/>
              </a:rPr>
              <a:t>Tally Forms</a:t>
            </a:r>
            <a:endParaRPr lang="en-US" sz="1050" dirty="0"/>
          </a:p>
        </p:txBody>
      </p:sp>
      <p:sp>
        <p:nvSpPr>
          <p:cNvPr id="17" name="Shape 15"/>
          <p:cNvSpPr/>
          <p:nvPr/>
        </p:nvSpPr>
        <p:spPr>
          <a:xfrm>
            <a:off x="3730752" y="2816352"/>
            <a:ext cx="1572768" cy="0"/>
          </a:xfrm>
          <a:prstGeom prst="line">
            <a:avLst/>
          </a:prstGeom>
          <a:noFill/>
          <a:ln w="5080">
            <a:solidFill>
              <a:srgbClr val="A0D4A0"/>
            </a:solidFill>
            <a:prstDash val="solid"/>
          </a:ln>
        </p:spPr>
        <p:txBody>
          <a:bodyPr/>
          <a:p/>
        </p:txBody>
      </p:sp>
      <p:sp>
        <p:nvSpPr>
          <p:cNvPr id="18" name="Text 16"/>
          <p:cNvSpPr/>
          <p:nvPr/>
        </p:nvSpPr>
        <p:spPr>
          <a:xfrm>
            <a:off x="3767328" y="2871216"/>
            <a:ext cx="1508760" cy="502920"/>
          </a:xfrm>
          <a:prstGeom prst="rect">
            <a:avLst/>
          </a:prstGeom>
          <a:noFill/>
          <a:ln/>
        </p:spPr>
        <p:txBody>
          <a:bodyPr wrap="square" rtlCol="0" anchor="ctr"/>
          <a:lstStyle/>
          <a:p>
            <a:pPr marL="0" indent="0">
              <a:buNone/>
            </a:pPr>
            <a:r>
              <a:rPr lang="en-US" sz="1050" dirty="0">
                <a:solidFill>
                  <a:srgbClr val="0C0C14"/>
                </a:solidFill>
                <a:latin typeface="Calibri" pitchFamily="34" charset="0"/>
                <a:ea typeface="Calibri" pitchFamily="34" charset="-122"/>
                <a:cs typeface="Calibri" pitchFamily="34" charset="-120"/>
              </a:rPr>
              <a:t>Google Workspace</a:t>
            </a:r>
            <a:endParaRPr lang="en-US" sz="1050" dirty="0"/>
          </a:p>
        </p:txBody>
      </p:sp>
      <p:sp>
        <p:nvSpPr>
          <p:cNvPr id="19" name="Shape 17"/>
          <p:cNvSpPr/>
          <p:nvPr/>
        </p:nvSpPr>
        <p:spPr>
          <a:xfrm>
            <a:off x="3730752" y="3383280"/>
            <a:ext cx="1572768" cy="0"/>
          </a:xfrm>
          <a:prstGeom prst="line">
            <a:avLst/>
          </a:prstGeom>
          <a:noFill/>
          <a:ln w="5080">
            <a:solidFill>
              <a:srgbClr val="A0D4A0"/>
            </a:solidFill>
            <a:prstDash val="solid"/>
          </a:ln>
        </p:spPr>
        <p:txBody>
          <a:bodyPr/>
          <a:p/>
        </p:txBody>
      </p:sp>
      <p:sp>
        <p:nvSpPr>
          <p:cNvPr id="20" name="Text 18"/>
          <p:cNvSpPr/>
          <p:nvPr/>
        </p:nvSpPr>
        <p:spPr>
          <a:xfrm>
            <a:off x="3767328" y="3438144"/>
            <a:ext cx="1508760" cy="502920"/>
          </a:xfrm>
          <a:prstGeom prst="rect">
            <a:avLst/>
          </a:prstGeom>
          <a:noFill/>
          <a:ln/>
        </p:spPr>
        <p:txBody>
          <a:bodyPr wrap="square" rtlCol="0" anchor="ctr"/>
          <a:lstStyle/>
          <a:p>
            <a:pPr marL="0" indent="0">
              <a:buNone/>
            </a:pPr>
            <a:r>
              <a:rPr lang="en-US" sz="1050" dirty="0">
                <a:solidFill>
                  <a:srgbClr val="0C0C14"/>
                </a:solidFill>
                <a:latin typeface="Calibri" pitchFamily="34" charset="0"/>
                <a:ea typeface="Calibri" pitchFamily="34" charset="-122"/>
                <a:cs typeface="Calibri" pitchFamily="34" charset="-120"/>
              </a:rPr>
              <a:t>Telegram</a:t>
            </a:r>
            <a:endParaRPr lang="en-US" sz="1050" dirty="0"/>
          </a:p>
        </p:txBody>
      </p:sp>
      <p:sp>
        <p:nvSpPr>
          <p:cNvPr id="21" name="Shape 19"/>
          <p:cNvSpPr/>
          <p:nvPr/>
        </p:nvSpPr>
        <p:spPr>
          <a:xfrm>
            <a:off x="5504688" y="1280160"/>
            <a:ext cx="1719072" cy="3566160"/>
          </a:xfrm>
          <a:prstGeom prst="rect">
            <a:avLst/>
          </a:prstGeom>
          <a:solidFill>
            <a:srgbClr val="EFF5FC"/>
          </a:solidFill>
          <a:ln w="10160">
            <a:solidFill>
              <a:srgbClr val="90B8E0"/>
            </a:solidFill>
            <a:prstDash val="solid"/>
          </a:ln>
        </p:spPr>
        <p:txBody>
          <a:bodyPr/>
          <a:p/>
        </p:txBody>
      </p:sp>
      <p:sp>
        <p:nvSpPr>
          <p:cNvPr id="22" name="Shape 20"/>
          <p:cNvSpPr/>
          <p:nvPr/>
        </p:nvSpPr>
        <p:spPr>
          <a:xfrm>
            <a:off x="5504688" y="1280160"/>
            <a:ext cx="1719072" cy="402336"/>
          </a:xfrm>
          <a:prstGeom prst="rect">
            <a:avLst/>
          </a:prstGeom>
          <a:solidFill>
            <a:srgbClr val="A8C8EC"/>
          </a:solidFill>
          <a:ln w="12700">
            <a:solidFill>
              <a:srgbClr val="90B8E0"/>
            </a:solidFill>
            <a:prstDash val="solid"/>
          </a:ln>
        </p:spPr>
        <p:txBody>
          <a:bodyPr/>
          <a:p/>
        </p:txBody>
      </p:sp>
      <p:sp>
        <p:nvSpPr>
          <p:cNvPr id="23" name="Text 21"/>
          <p:cNvSpPr/>
          <p:nvPr/>
        </p:nvSpPr>
        <p:spPr>
          <a:xfrm>
            <a:off x="5504688" y="1280160"/>
            <a:ext cx="1719072" cy="402336"/>
          </a:xfrm>
          <a:prstGeom prst="rect">
            <a:avLst/>
          </a:prstGeom>
          <a:noFill/>
          <a:ln/>
        </p:spPr>
        <p:txBody>
          <a:bodyPr wrap="square" lIns="0" tIns="0" rIns="0" bIns="0" rtlCol="0" anchor="ctr"/>
          <a:lstStyle/>
          <a:p>
            <a:pPr marL="0" indent="0" algn="ctr">
              <a:buNone/>
            </a:pPr>
            <a:r>
              <a:rPr lang="en-US" sz="1100" b="1" dirty="0">
                <a:solidFill>
                  <a:srgbClr val="0C0C14"/>
                </a:solidFill>
                <a:latin typeface="Trebuchet MS" pitchFamily="34" charset="0"/>
                <a:ea typeface="Trebuchet MS" pitchFamily="34" charset="-122"/>
                <a:cs typeface="Trebuchet MS" pitchFamily="34" charset="-120"/>
              </a:rPr>
              <a:t>AI &amp; data</a:t>
            </a:r>
            <a:endParaRPr lang="en-US" sz="1100" dirty="0"/>
          </a:p>
        </p:txBody>
      </p:sp>
      <p:sp>
        <p:nvSpPr>
          <p:cNvPr id="24" name="Text 22"/>
          <p:cNvSpPr/>
          <p:nvPr/>
        </p:nvSpPr>
        <p:spPr>
          <a:xfrm>
            <a:off x="5614416" y="1737360"/>
            <a:ext cx="1508760" cy="502920"/>
          </a:xfrm>
          <a:prstGeom prst="rect">
            <a:avLst/>
          </a:prstGeom>
          <a:noFill/>
          <a:ln/>
        </p:spPr>
        <p:txBody>
          <a:bodyPr wrap="square" rtlCol="0" anchor="ctr"/>
          <a:lstStyle/>
          <a:p>
            <a:pPr marL="0" indent="0">
              <a:buNone/>
            </a:pPr>
            <a:r>
              <a:rPr lang="en-US" sz="1050" dirty="0">
                <a:solidFill>
                  <a:srgbClr val="0C0C14"/>
                </a:solidFill>
                <a:latin typeface="Calibri" pitchFamily="34" charset="0"/>
                <a:ea typeface="Calibri" pitchFamily="34" charset="-122"/>
                <a:cs typeface="Calibri" pitchFamily="34" charset="-120"/>
              </a:rPr>
              <a:t>Gemini API</a:t>
            </a:r>
            <a:endParaRPr lang="en-US" sz="1050" dirty="0"/>
          </a:p>
        </p:txBody>
      </p:sp>
      <p:sp>
        <p:nvSpPr>
          <p:cNvPr id="25" name="Shape 23"/>
          <p:cNvSpPr/>
          <p:nvPr/>
        </p:nvSpPr>
        <p:spPr>
          <a:xfrm>
            <a:off x="5577840" y="2249424"/>
            <a:ext cx="1572768" cy="0"/>
          </a:xfrm>
          <a:prstGeom prst="line">
            <a:avLst/>
          </a:prstGeom>
          <a:noFill/>
          <a:ln w="5080">
            <a:solidFill>
              <a:srgbClr val="90B8E0"/>
            </a:solidFill>
            <a:prstDash val="solid"/>
          </a:ln>
        </p:spPr>
        <p:txBody>
          <a:bodyPr/>
          <a:p/>
        </p:txBody>
      </p:sp>
      <p:sp>
        <p:nvSpPr>
          <p:cNvPr id="26" name="Text 24"/>
          <p:cNvSpPr/>
          <p:nvPr/>
        </p:nvSpPr>
        <p:spPr>
          <a:xfrm>
            <a:off x="5614416" y="2304288"/>
            <a:ext cx="1508760" cy="502920"/>
          </a:xfrm>
          <a:prstGeom prst="rect">
            <a:avLst/>
          </a:prstGeom>
          <a:noFill/>
          <a:ln/>
        </p:spPr>
        <p:txBody>
          <a:bodyPr wrap="square" rtlCol="0" anchor="ctr"/>
          <a:lstStyle/>
          <a:p>
            <a:pPr marL="0" indent="0">
              <a:buNone/>
            </a:pPr>
            <a:r>
              <a:rPr lang="en-US" sz="1050" dirty="0">
                <a:solidFill>
                  <a:srgbClr val="0C0C14"/>
                </a:solidFill>
                <a:latin typeface="Calibri" pitchFamily="34" charset="0"/>
                <a:ea typeface="Calibri" pitchFamily="34" charset="-122"/>
                <a:cs typeface="Calibri" pitchFamily="34" charset="-120"/>
              </a:rPr>
              <a:t>Pinecone</a:t>
            </a:r>
            <a:endParaRPr lang="en-US" sz="1050" dirty="0"/>
          </a:p>
        </p:txBody>
      </p:sp>
      <p:sp>
        <p:nvSpPr>
          <p:cNvPr id="27" name="Shape 25"/>
          <p:cNvSpPr/>
          <p:nvPr/>
        </p:nvSpPr>
        <p:spPr>
          <a:xfrm>
            <a:off x="5577840" y="2816352"/>
            <a:ext cx="1572768" cy="0"/>
          </a:xfrm>
          <a:prstGeom prst="line">
            <a:avLst/>
          </a:prstGeom>
          <a:noFill/>
          <a:ln w="5080">
            <a:solidFill>
              <a:srgbClr val="90B8E0"/>
            </a:solidFill>
            <a:prstDash val="solid"/>
          </a:ln>
        </p:spPr>
        <p:txBody>
          <a:bodyPr/>
          <a:p/>
        </p:txBody>
      </p:sp>
      <p:sp>
        <p:nvSpPr>
          <p:cNvPr id="28" name="Text 26"/>
          <p:cNvSpPr/>
          <p:nvPr/>
        </p:nvSpPr>
        <p:spPr>
          <a:xfrm>
            <a:off x="5614416" y="2871216"/>
            <a:ext cx="1508760" cy="502920"/>
          </a:xfrm>
          <a:prstGeom prst="rect">
            <a:avLst/>
          </a:prstGeom>
          <a:noFill/>
          <a:ln/>
        </p:spPr>
        <p:txBody>
          <a:bodyPr wrap="square" rtlCol="0" anchor="ctr"/>
          <a:lstStyle/>
          <a:p>
            <a:pPr marL="0" indent="0">
              <a:buNone/>
            </a:pPr>
            <a:r>
              <a:rPr lang="en-US" sz="1050" dirty="0">
                <a:solidFill>
                  <a:srgbClr val="0C0C14"/>
                </a:solidFill>
                <a:latin typeface="Calibri" pitchFamily="34" charset="0"/>
                <a:ea typeface="Calibri" pitchFamily="34" charset="-122"/>
                <a:cs typeface="Calibri" pitchFamily="34" charset="-120"/>
              </a:rPr>
              <a:t>Airtable</a:t>
            </a:r>
            <a:endParaRPr lang="en-US" sz="1050" dirty="0"/>
          </a:p>
        </p:txBody>
      </p:sp>
      <p:sp>
        <p:nvSpPr>
          <p:cNvPr id="29" name="Shape 27"/>
          <p:cNvSpPr/>
          <p:nvPr/>
        </p:nvSpPr>
        <p:spPr>
          <a:xfrm>
            <a:off x="5577840" y="3383280"/>
            <a:ext cx="1572768" cy="0"/>
          </a:xfrm>
          <a:prstGeom prst="line">
            <a:avLst/>
          </a:prstGeom>
          <a:noFill/>
          <a:ln w="5080">
            <a:solidFill>
              <a:schemeClr val="accent1"/>
            </a:solidFill>
            <a:prstDash val="solid"/>
          </a:ln>
        </p:spPr>
        <p:txBody>
          <a:bodyPr/>
          <a:p/>
        </p:txBody>
      </p:sp>
      <p:sp>
        <p:nvSpPr>
          <p:cNvPr id="30" name="Text 28"/>
          <p:cNvSpPr/>
          <p:nvPr/>
        </p:nvSpPr>
        <p:spPr>
          <a:xfrm>
            <a:off x="5614416" y="3438144"/>
            <a:ext cx="1508760" cy="502920"/>
          </a:xfrm>
          <a:prstGeom prst="rect">
            <a:avLst/>
          </a:prstGeom>
          <a:noFill/>
          <a:ln/>
        </p:spPr>
        <p:txBody>
          <a:bodyPr wrap="square" rtlCol="0" anchor="ctr"/>
          <a:lstStyle/>
          <a:p>
            <a:pPr marL="0" indent="0">
              <a:buNone/>
            </a:pPr>
            <a:r>
              <a:rPr lang="en-US" sz="1050" dirty="0">
                <a:solidFill>
                  <a:srgbClr val="0C0C14"/>
                </a:solidFill>
                <a:latin typeface="Calibri" pitchFamily="34" charset="0"/>
                <a:ea typeface="Calibri" pitchFamily="34" charset="-122"/>
                <a:cs typeface="Calibri" pitchFamily="34" charset="-120"/>
              </a:rPr>
              <a:t>Slack</a:t>
            </a:r>
            <a:endParaRPr lang="en-US" sz="1050" dirty="0"/>
          </a:p>
        </p:txBody>
      </p:sp>
      <p:sp>
        <p:nvSpPr>
          <p:cNvPr id="31" name="Shape 29"/>
          <p:cNvSpPr/>
          <p:nvPr/>
        </p:nvSpPr>
        <p:spPr>
          <a:xfrm>
            <a:off x="7351776" y="1280160"/>
            <a:ext cx="1719072" cy="3566160"/>
          </a:xfrm>
          <a:prstGeom prst="rect">
            <a:avLst/>
          </a:prstGeom>
          <a:solidFill>
            <a:srgbClr val="F4EFF8"/>
          </a:solidFill>
          <a:ln w="10160">
            <a:solidFill>
              <a:srgbClr val="B090D8"/>
            </a:solidFill>
            <a:prstDash val="solid"/>
          </a:ln>
        </p:spPr>
        <p:txBody>
          <a:bodyPr/>
          <a:p/>
        </p:txBody>
      </p:sp>
      <p:sp>
        <p:nvSpPr>
          <p:cNvPr id="32" name="Shape 30"/>
          <p:cNvSpPr/>
          <p:nvPr/>
        </p:nvSpPr>
        <p:spPr>
          <a:xfrm>
            <a:off x="7351776" y="1280160"/>
            <a:ext cx="1719072" cy="402336"/>
          </a:xfrm>
          <a:prstGeom prst="rect">
            <a:avLst/>
          </a:prstGeom>
          <a:solidFill>
            <a:srgbClr val="C0A8E8"/>
          </a:solidFill>
          <a:ln w="12700">
            <a:solidFill>
              <a:srgbClr val="B090D8"/>
            </a:solidFill>
            <a:prstDash val="solid"/>
          </a:ln>
        </p:spPr>
        <p:txBody>
          <a:bodyPr/>
          <a:p/>
        </p:txBody>
      </p:sp>
      <p:sp>
        <p:nvSpPr>
          <p:cNvPr id="33" name="Text 31"/>
          <p:cNvSpPr/>
          <p:nvPr/>
        </p:nvSpPr>
        <p:spPr>
          <a:xfrm>
            <a:off x="7351776" y="1280160"/>
            <a:ext cx="1719072" cy="402336"/>
          </a:xfrm>
          <a:prstGeom prst="rect">
            <a:avLst/>
          </a:prstGeom>
          <a:noFill/>
          <a:ln/>
        </p:spPr>
        <p:txBody>
          <a:bodyPr wrap="square" lIns="0" tIns="0" rIns="0" bIns="0" rtlCol="0" anchor="ctr"/>
          <a:lstStyle/>
          <a:p>
            <a:pPr marL="0" indent="0" algn="ctr">
              <a:buNone/>
            </a:pPr>
            <a:r>
              <a:rPr lang="en-US" sz="1100" b="1" dirty="0">
                <a:solidFill>
                  <a:srgbClr val="0C0C14"/>
                </a:solidFill>
                <a:latin typeface="Trebuchet MS" pitchFamily="34" charset="0"/>
                <a:ea typeface="Trebuchet MS" pitchFamily="34" charset="-122"/>
                <a:cs typeface="Trebuchet MS" pitchFamily="34" charset="-120"/>
              </a:rPr>
              <a:t>Own your stack</a:t>
            </a:r>
            <a:endParaRPr lang="en-US" sz="1100" dirty="0"/>
          </a:p>
        </p:txBody>
      </p:sp>
      <p:sp>
        <p:nvSpPr>
          <p:cNvPr id="34" name="Text 32"/>
          <p:cNvSpPr/>
          <p:nvPr/>
        </p:nvSpPr>
        <p:spPr>
          <a:xfrm>
            <a:off x="7461504" y="1737360"/>
            <a:ext cx="1508760" cy="502920"/>
          </a:xfrm>
          <a:prstGeom prst="rect">
            <a:avLst/>
          </a:prstGeom>
          <a:noFill/>
          <a:ln/>
        </p:spPr>
        <p:txBody>
          <a:bodyPr wrap="square" rtlCol="0" anchor="ctr"/>
          <a:lstStyle/>
          <a:p>
            <a:pPr marL="0" indent="0">
              <a:buNone/>
            </a:pPr>
            <a:r>
              <a:rPr lang="en-US" sz="1050" dirty="0">
                <a:solidFill>
                  <a:srgbClr val="0C0C14"/>
                </a:solidFill>
                <a:latin typeface="Calibri" pitchFamily="34" charset="0"/>
                <a:ea typeface="Calibri" pitchFamily="34" charset="-122"/>
                <a:cs typeface="Calibri" pitchFamily="34" charset="-120"/>
              </a:rPr>
              <a:t>n8n self-hosted</a:t>
            </a:r>
            <a:endParaRPr lang="en-US" sz="1050" dirty="0"/>
          </a:p>
        </p:txBody>
      </p:sp>
      <p:sp>
        <p:nvSpPr>
          <p:cNvPr id="35" name="Shape 33"/>
          <p:cNvSpPr/>
          <p:nvPr/>
        </p:nvSpPr>
        <p:spPr>
          <a:xfrm>
            <a:off x="7424928" y="2249424"/>
            <a:ext cx="1572768" cy="0"/>
          </a:xfrm>
          <a:prstGeom prst="line">
            <a:avLst/>
          </a:prstGeom>
          <a:noFill/>
          <a:ln w="5080">
            <a:solidFill>
              <a:srgbClr val="B090D8"/>
            </a:solidFill>
            <a:prstDash val="solid"/>
          </a:ln>
        </p:spPr>
        <p:txBody>
          <a:bodyPr/>
          <a:p/>
        </p:txBody>
      </p:sp>
      <p:sp>
        <p:nvSpPr>
          <p:cNvPr id="36" name="Text 34"/>
          <p:cNvSpPr/>
          <p:nvPr/>
        </p:nvSpPr>
        <p:spPr>
          <a:xfrm>
            <a:off x="7461504" y="2304288"/>
            <a:ext cx="1508760" cy="502920"/>
          </a:xfrm>
          <a:prstGeom prst="rect">
            <a:avLst/>
          </a:prstGeom>
          <a:noFill/>
          <a:ln/>
        </p:spPr>
        <p:txBody>
          <a:bodyPr wrap="square" rtlCol="0" anchor="ctr"/>
          <a:lstStyle/>
          <a:p>
            <a:pPr marL="0" indent="0">
              <a:buNone/>
            </a:pPr>
            <a:r>
              <a:rPr lang="en-US" sz="1050" dirty="0">
                <a:solidFill>
                  <a:srgbClr val="0C0C14"/>
                </a:solidFill>
                <a:latin typeface="Calibri" pitchFamily="34" charset="0"/>
                <a:ea typeface="Calibri" pitchFamily="34" charset="-122"/>
                <a:cs typeface="Calibri" pitchFamily="34" charset="-120"/>
              </a:rPr>
              <a:t>Google Cloud ($30 once)</a:t>
            </a:r>
            <a:endParaRPr lang="en-US" sz="1050" dirty="0"/>
          </a:p>
        </p:txBody>
      </p:sp>
      <p:sp>
        <p:nvSpPr>
          <p:cNvPr id="37" name="Shape 35"/>
          <p:cNvSpPr/>
          <p:nvPr/>
        </p:nvSpPr>
        <p:spPr>
          <a:xfrm>
            <a:off x="7424928" y="2816352"/>
            <a:ext cx="1572768" cy="0"/>
          </a:xfrm>
          <a:prstGeom prst="line">
            <a:avLst/>
          </a:prstGeom>
          <a:noFill/>
          <a:ln w="5080">
            <a:solidFill>
              <a:srgbClr val="B090D8"/>
            </a:solidFill>
            <a:prstDash val="solid"/>
          </a:ln>
        </p:spPr>
        <p:txBody>
          <a:bodyPr/>
          <a:p/>
        </p:txBody>
      </p:sp>
      <p:sp>
        <p:nvSpPr>
          <p:cNvPr id="38" name="Text 36"/>
          <p:cNvSpPr/>
          <p:nvPr/>
        </p:nvSpPr>
        <p:spPr>
          <a:xfrm>
            <a:off x="7461504" y="2871216"/>
            <a:ext cx="1508760" cy="502920"/>
          </a:xfrm>
          <a:prstGeom prst="rect">
            <a:avLst/>
          </a:prstGeom>
          <a:noFill/>
          <a:ln/>
        </p:spPr>
        <p:txBody>
          <a:bodyPr wrap="square" rtlCol="0" anchor="ctr"/>
          <a:lstStyle/>
          <a:p>
            <a:pPr marL="0" indent="0">
              <a:buNone/>
            </a:pPr>
            <a:r>
              <a:rPr lang="en-US" sz="1050" dirty="0">
                <a:solidFill>
                  <a:srgbClr val="0C0C14"/>
                </a:solidFill>
                <a:latin typeface="Calibri" pitchFamily="34" charset="0"/>
                <a:ea typeface="Calibri" pitchFamily="34" charset="-122"/>
                <a:cs typeface="Calibri" pitchFamily="34" charset="-120"/>
              </a:rPr>
              <a:t>WhatsApp API</a:t>
            </a:r>
            <a:endParaRPr lang="en-US" sz="1050" dirty="0"/>
          </a:p>
        </p:txBody>
      </p:sp>
      <p:sp>
        <p:nvSpPr>
          <p:cNvPr id="39" name="Shape 37"/>
          <p:cNvSpPr/>
          <p:nvPr/>
        </p:nvSpPr>
        <p:spPr>
          <a:xfrm>
            <a:off x="7424928" y="3383280"/>
            <a:ext cx="1572768" cy="0"/>
          </a:xfrm>
          <a:prstGeom prst="line">
            <a:avLst/>
          </a:prstGeom>
          <a:noFill/>
          <a:ln w="5080">
            <a:solidFill>
              <a:srgbClr val="B090D8"/>
            </a:solidFill>
            <a:prstDash val="solid"/>
          </a:ln>
        </p:spPr>
        <p:txBody>
          <a:bodyPr/>
          <a:p/>
        </p:txBody>
      </p:sp>
      <p:sp>
        <p:nvSpPr>
          <p:cNvPr id="40" name="Text 38"/>
          <p:cNvSpPr/>
          <p:nvPr/>
        </p:nvSpPr>
        <p:spPr>
          <a:xfrm>
            <a:off x="7461504" y="3438144"/>
            <a:ext cx="1508760" cy="502920"/>
          </a:xfrm>
          <a:prstGeom prst="rect">
            <a:avLst/>
          </a:prstGeom>
          <a:noFill/>
          <a:ln/>
        </p:spPr>
        <p:txBody>
          <a:bodyPr wrap="square" rtlCol="0" anchor="ctr"/>
          <a:lstStyle/>
          <a:p>
            <a:pPr marL="0" indent="0">
              <a:buNone/>
            </a:pPr>
            <a:r>
              <a:rPr lang="en-US" sz="1050" dirty="0">
                <a:solidFill>
                  <a:srgbClr val="0C0C14"/>
                </a:solidFill>
                <a:latin typeface="Calibri" pitchFamily="34" charset="0"/>
                <a:ea typeface="Calibri" pitchFamily="34" charset="-122"/>
                <a:cs typeface="Calibri" pitchFamily="34" charset="-120"/>
              </a:rPr>
              <a:t>Vapi (voice)</a:t>
            </a:r>
            <a:endParaRPr lang="en-US" sz="1050" dirty="0"/>
          </a:p>
        </p:txBody>
      </p:sp>
      <p:sp>
        <p:nvSpPr>
          <p:cNvPr id="42" name="Text 18">
            <a:extLst>
              <a:ext uri="{FF2B5EF4-FFF2-40B4-BE49-F238E27FC236}">
                <a16:creationId xmlns:a16="http://schemas.microsoft.com/office/drawing/2014/main" id="{91742363-A309-8F86-5CBA-7B8B9D39DD45}"/>
              </a:ext>
            </a:extLst>
          </p:cNvPr>
          <p:cNvSpPr/>
          <p:nvPr/>
        </p:nvSpPr>
        <p:spPr>
          <a:xfrm>
            <a:off x="3762756" y="4001007"/>
            <a:ext cx="1508760" cy="502920"/>
          </a:xfrm>
          <a:prstGeom prst="rect">
            <a:avLst/>
          </a:prstGeom>
          <a:noFill/>
          <a:ln/>
        </p:spPr>
        <p:txBody>
          <a:bodyPr wrap="square" rtlCol="0" anchor="ctr"/>
          <a:lstStyle/>
          <a:p>
            <a:pPr marL="0" indent="0">
              <a:buNone/>
            </a:pPr>
            <a:r>
              <a:rPr lang="en-US" sz="1050" dirty="0">
                <a:solidFill>
                  <a:srgbClr val="0C0C14"/>
                </a:solidFill>
                <a:latin typeface="Calibri" pitchFamily="34" charset="0"/>
                <a:ea typeface="Calibri" pitchFamily="34" charset="-122"/>
                <a:cs typeface="Calibri" pitchFamily="34" charset="-120"/>
              </a:rPr>
              <a:t>Loom</a:t>
            </a:r>
            <a:endParaRPr lang="en-US" sz="1050" dirty="0"/>
          </a:p>
        </p:txBody>
      </p:sp>
      <p:sp>
        <p:nvSpPr>
          <p:cNvPr id="44" name="Shape 17">
            <a:extLst>
              <a:ext uri="{FF2B5EF4-FFF2-40B4-BE49-F238E27FC236}">
                <a16:creationId xmlns:a16="http://schemas.microsoft.com/office/drawing/2014/main" id="{71AA8D49-37D8-A0C1-67A8-54805A6D8322}"/>
              </a:ext>
            </a:extLst>
          </p:cNvPr>
          <p:cNvSpPr/>
          <p:nvPr/>
        </p:nvSpPr>
        <p:spPr>
          <a:xfrm>
            <a:off x="3730752" y="3946144"/>
            <a:ext cx="1572768" cy="0"/>
          </a:xfrm>
          <a:prstGeom prst="line">
            <a:avLst/>
          </a:prstGeom>
          <a:noFill/>
          <a:ln w="5080">
            <a:solidFill>
              <a:srgbClr val="A0D4A0"/>
            </a:solidFill>
            <a:prstDash val="solid"/>
          </a:ln>
        </p:spPr>
        <p:txBody>
          <a:bodyPr/>
          <a:p/>
        </p:txBody>
      </p:sp>
      <p:sp>
        <p:nvSpPr>
          <p:cNvPr id="46" name="Text 18">
            <a:extLst>
              <a:ext uri="{FF2B5EF4-FFF2-40B4-BE49-F238E27FC236}">
                <a16:creationId xmlns:a16="http://schemas.microsoft.com/office/drawing/2014/main" id="{04C12BEC-597D-7D2A-E205-FD247C3FE981}"/>
              </a:ext>
            </a:extLst>
          </p:cNvPr>
          <p:cNvSpPr/>
          <p:nvPr/>
        </p:nvSpPr>
        <p:spPr>
          <a:xfrm>
            <a:off x="5641848" y="4001007"/>
            <a:ext cx="1508760" cy="502920"/>
          </a:xfrm>
          <a:prstGeom prst="rect">
            <a:avLst/>
          </a:prstGeom>
          <a:noFill/>
          <a:ln/>
        </p:spPr>
        <p:txBody>
          <a:bodyPr wrap="square" rtlCol="0" anchor="ctr"/>
          <a:lstStyle/>
          <a:p>
            <a:pPr marL="0" indent="0">
              <a:buNone/>
            </a:pPr>
            <a:r>
              <a:rPr lang="en-US" sz="1050" dirty="0">
                <a:solidFill>
                  <a:srgbClr val="0C0C14"/>
                </a:solidFill>
                <a:latin typeface="Calibri" pitchFamily="34" charset="0"/>
                <a:ea typeface="Calibri" pitchFamily="34" charset="-122"/>
                <a:cs typeface="Calibri" pitchFamily="34" charset="-120"/>
              </a:rPr>
              <a:t>Domain (~$10/yr)</a:t>
            </a:r>
            <a:endParaRPr lang="en-US" sz="1050" dirty="0"/>
          </a:p>
        </p:txBody>
      </p:sp>
      <p:sp>
        <p:nvSpPr>
          <p:cNvPr id="48" name="Shape 17">
            <a:extLst>
              <a:ext uri="{FF2B5EF4-FFF2-40B4-BE49-F238E27FC236}">
                <a16:creationId xmlns:a16="http://schemas.microsoft.com/office/drawing/2014/main" id="{CF343996-203F-C9D7-7E55-DA8F0086A504}"/>
              </a:ext>
            </a:extLst>
          </p:cNvPr>
          <p:cNvSpPr/>
          <p:nvPr/>
        </p:nvSpPr>
        <p:spPr>
          <a:xfrm>
            <a:off x="5609844" y="3946144"/>
            <a:ext cx="1572768" cy="0"/>
          </a:xfrm>
          <a:prstGeom prst="line">
            <a:avLst/>
          </a:prstGeom>
          <a:ln/>
        </p:spPr>
        <p:style>
          <a:lnRef idx="1">
            <a:schemeClr val="accent1"/>
          </a:lnRef>
          <a:fillRef idx="0">
            <a:schemeClr val="accent1"/>
          </a:fillRef>
          <a:effectRef idx="0">
            <a:schemeClr val="accent1"/>
          </a:effectRef>
          <a:fontRef idx="minor">
            <a:schemeClr val="tx1"/>
          </a:fontRef>
        </p:style>
        <p:txBody>
          <a:bodyPr/>
          <a:p/>
        </p:txBody>
      </p:sp>
      <p:sp>
        <p:nvSpPr>
          <p:cNvPr id="50" name="Text 18">
            <a:extLst>
              <a:ext uri="{FF2B5EF4-FFF2-40B4-BE49-F238E27FC236}">
                <a16:creationId xmlns:a16="http://schemas.microsoft.com/office/drawing/2014/main" id="{731DAD0B-64CC-5591-A4A4-4C3218D85CDF}"/>
              </a:ext>
            </a:extLst>
          </p:cNvPr>
          <p:cNvSpPr/>
          <p:nvPr/>
        </p:nvSpPr>
        <p:spPr>
          <a:xfrm>
            <a:off x="7461504" y="4001007"/>
            <a:ext cx="1508760" cy="502920"/>
          </a:xfrm>
          <a:prstGeom prst="rect">
            <a:avLst/>
          </a:prstGeom>
          <a:noFill/>
          <a:ln/>
        </p:spPr>
        <p:txBody>
          <a:bodyPr wrap="square" rtlCol="0" anchor="ctr"/>
          <a:lstStyle/>
          <a:p>
            <a:pPr marL="0" indent="0">
              <a:buNone/>
            </a:pPr>
            <a:r>
              <a:rPr lang="en-US" sz="1050" dirty="0">
                <a:solidFill>
                  <a:srgbClr val="0C0C14"/>
                </a:solidFill>
                <a:latin typeface="Calibri" pitchFamily="34" charset="0"/>
                <a:ea typeface="Calibri" pitchFamily="34" charset="-122"/>
                <a:cs typeface="Calibri" pitchFamily="34" charset="-120"/>
              </a:rPr>
              <a:t>No monthly tool bills</a:t>
            </a:r>
            <a:endParaRPr lang="en-US" sz="1050" dirty="0"/>
          </a:p>
        </p:txBody>
      </p:sp>
      <p:sp>
        <p:nvSpPr>
          <p:cNvPr id="54" name="Shape 37">
            <a:extLst>
              <a:ext uri="{FF2B5EF4-FFF2-40B4-BE49-F238E27FC236}">
                <a16:creationId xmlns:a16="http://schemas.microsoft.com/office/drawing/2014/main" id="{1D9DF3EB-AF36-A817-F322-4F8070550A8F}"/>
              </a:ext>
            </a:extLst>
          </p:cNvPr>
          <p:cNvSpPr/>
          <p:nvPr/>
        </p:nvSpPr>
        <p:spPr>
          <a:xfrm>
            <a:off x="7424928" y="3946144"/>
            <a:ext cx="1572768" cy="0"/>
          </a:xfrm>
          <a:prstGeom prst="line">
            <a:avLst/>
          </a:prstGeom>
          <a:noFill/>
          <a:ln w="5080">
            <a:solidFill>
              <a:srgbClr val="B090D8"/>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0" y="0"/>
            <a:ext cx="3657600" cy="2926080"/>
          </a:xfrm>
          <a:prstGeom prst="rect">
            <a:avLst/>
          </a:prstGeom>
          <a:noFill/>
          <a:ln/>
        </p:spPr>
        <p:txBody>
          <a:bodyPr wrap="square" rtlCol="0" anchor="ctr"/>
          <a:lstStyle/>
          <a:p>
            <a:pPr marL="0" indent="0" algn="r">
              <a:buNone/>
            </a:pPr>
            <a:r>
              <a:rPr lang="en-US" sz="19000" b="1" dirty="0">
                <a:solidFill>
                  <a:srgbClr val="F0EFF8"/>
                </a:solidFill>
                <a:latin typeface="Trebuchet MS" pitchFamily="34" charset="0"/>
                <a:ea typeface="Trebuchet MS" pitchFamily="34" charset="-122"/>
                <a:cs typeface="Trebuchet MS" pitchFamily="34" charset="-120"/>
              </a:rPr>
              <a:t>03</a:t>
            </a:r>
            <a:endParaRPr lang="en-US" sz="19000" dirty="0"/>
          </a:p>
        </p:txBody>
      </p:sp>
      <p:sp>
        <p:nvSpPr>
          <p:cNvPr id="3" name="Text 1"/>
          <p:cNvSpPr/>
          <p:nvPr/>
        </p:nvSpPr>
        <p:spPr>
          <a:xfrm>
            <a:off x="457200" y="274320"/>
            <a:ext cx="5486400" cy="256032"/>
          </a:xfrm>
          <a:prstGeom prst="rect">
            <a:avLst/>
          </a:prstGeom>
          <a:noFill/>
          <a:ln/>
        </p:spPr>
        <p:txBody>
          <a:bodyPr wrap="square" rtlCol="0" anchor="ctr"/>
          <a:lstStyle/>
          <a:p>
            <a:pPr marL="0" indent="0">
              <a:buNone/>
            </a:pPr>
            <a:r>
              <a:rPr lang="en-US" sz="1000" b="1" kern="0" spc="500" dirty="0">
                <a:solidFill>
                  <a:srgbClr val="7A9A20"/>
                </a:solidFill>
                <a:latin typeface="Trebuchet MS" pitchFamily="34" charset="0"/>
                <a:ea typeface="Trebuchet MS" pitchFamily="34" charset="-122"/>
                <a:cs typeface="Trebuchet MS" pitchFamily="34" charset="-120"/>
              </a:rPr>
              <a:t>SESSION  03</a:t>
            </a:r>
            <a:endParaRPr lang="en-US" sz="1000" dirty="0"/>
          </a:p>
        </p:txBody>
      </p:sp>
      <p:sp>
        <p:nvSpPr>
          <p:cNvPr id="4" name="Text 2"/>
          <p:cNvSpPr/>
          <p:nvPr/>
        </p:nvSpPr>
        <p:spPr>
          <a:xfrm>
            <a:off x="457200" y="566928"/>
            <a:ext cx="6583680" cy="822960"/>
          </a:xfrm>
          <a:prstGeom prst="rect">
            <a:avLst/>
          </a:prstGeom>
          <a:noFill/>
          <a:ln/>
        </p:spPr>
        <p:txBody>
          <a:bodyPr wrap="square" rtlCol="0" anchor="ctr"/>
          <a:lstStyle/>
          <a:p>
            <a:pPr marL="0" indent="0">
              <a:buNone/>
            </a:pPr>
            <a:r>
              <a:rPr lang="en-US" sz="3000" b="1" dirty="0">
                <a:solidFill>
                  <a:srgbClr val="0C0C14"/>
                </a:solidFill>
                <a:latin typeface="Trebuchet MS" pitchFamily="34" charset="0"/>
                <a:ea typeface="Trebuchet MS" pitchFamily="34" charset="-122"/>
                <a:cs typeface="Trebuchet MS" pitchFamily="34" charset="-120"/>
              </a:rPr>
              <a:t>The cost of entry &amp; ROI reality</a:t>
            </a:r>
            <a:endParaRPr lang="en-US" sz="3000" dirty="0"/>
          </a:p>
        </p:txBody>
      </p:sp>
      <p:sp>
        <p:nvSpPr>
          <p:cNvPr id="5" name="Shape 3"/>
          <p:cNvSpPr/>
          <p:nvPr/>
        </p:nvSpPr>
        <p:spPr>
          <a:xfrm>
            <a:off x="384048" y="1389888"/>
            <a:ext cx="2743200" cy="1188720"/>
          </a:xfrm>
          <a:prstGeom prst="rect">
            <a:avLst/>
          </a:prstGeom>
          <a:solidFill>
            <a:srgbClr val="0C0C14"/>
          </a:solidFill>
          <a:ln w="12700">
            <a:solidFill>
              <a:srgbClr val="0C0C14"/>
            </a:solidFill>
            <a:prstDash val="solid"/>
          </a:ln>
        </p:spPr>
        <p:txBody>
          <a:bodyPr/>
          <a:p/>
        </p:txBody>
      </p:sp>
      <p:sp>
        <p:nvSpPr>
          <p:cNvPr id="6" name="Text 4"/>
          <p:cNvSpPr/>
          <p:nvPr/>
        </p:nvSpPr>
        <p:spPr>
          <a:xfrm>
            <a:off x="530352" y="1463040"/>
            <a:ext cx="2450592" cy="594360"/>
          </a:xfrm>
          <a:prstGeom prst="rect">
            <a:avLst/>
          </a:prstGeom>
          <a:noFill/>
          <a:ln/>
        </p:spPr>
        <p:txBody>
          <a:bodyPr wrap="square" rtlCol="0" anchor="ctr"/>
          <a:lstStyle/>
          <a:p>
            <a:pPr marL="0" indent="0">
              <a:buNone/>
            </a:pPr>
            <a:r>
              <a:rPr lang="en-US" sz="3000" b="1" dirty="0">
                <a:solidFill>
                  <a:srgbClr val="C8F064"/>
                </a:solidFill>
                <a:latin typeface="Trebuchet MS" pitchFamily="34" charset="0"/>
                <a:ea typeface="Trebuchet MS" pitchFamily="34" charset="-122"/>
                <a:cs typeface="Trebuchet MS" pitchFamily="34" charset="-120"/>
              </a:rPr>
              <a:t>~$0</a:t>
            </a:r>
            <a:endParaRPr lang="en-US" sz="3000" dirty="0"/>
          </a:p>
        </p:txBody>
      </p:sp>
      <p:sp>
        <p:nvSpPr>
          <p:cNvPr id="7" name="Text 5"/>
          <p:cNvSpPr/>
          <p:nvPr/>
        </p:nvSpPr>
        <p:spPr>
          <a:xfrm>
            <a:off x="530352" y="2029968"/>
            <a:ext cx="2450592" cy="457200"/>
          </a:xfrm>
          <a:prstGeom prst="rect">
            <a:avLst/>
          </a:prstGeom>
          <a:noFill/>
          <a:ln/>
        </p:spPr>
        <p:txBody>
          <a:bodyPr wrap="square" rtlCol="0" anchor="ctr"/>
          <a:lstStyle/>
          <a:p>
            <a:pPr marL="0" indent="0">
              <a:buNone/>
            </a:pPr>
            <a:r>
              <a:rPr lang="en-US" sz="1000" dirty="0">
                <a:solidFill>
                  <a:srgbClr val="8A8AA8"/>
                </a:solidFill>
                <a:latin typeface="Calibri" pitchFamily="34" charset="0"/>
                <a:ea typeface="Calibri" pitchFamily="34" charset="-122"/>
                <a:cs typeface="Calibri" pitchFamily="34" charset="-120"/>
              </a:rPr>
              <a:t>avg monthly</a:t>
            </a:r>
            <a:endParaRPr lang="en-US" sz="1000" dirty="0"/>
          </a:p>
          <a:p>
            <a:pPr marL="0" indent="0">
              <a:buNone/>
            </a:pPr>
            <a:r>
              <a:rPr lang="en-US" sz="1000" dirty="0">
                <a:solidFill>
                  <a:srgbClr val="8A8AA8"/>
                </a:solidFill>
                <a:latin typeface="Calibri" pitchFamily="34" charset="0"/>
                <a:ea typeface="Calibri" pitchFamily="34" charset="-122"/>
                <a:cs typeface="Calibri" pitchFamily="34" charset="-120"/>
              </a:rPr>
              <a:t>tool cost to start</a:t>
            </a:r>
            <a:endParaRPr lang="en-US" sz="1000" dirty="0"/>
          </a:p>
        </p:txBody>
      </p:sp>
      <p:sp>
        <p:nvSpPr>
          <p:cNvPr id="8" name="Shape 6"/>
          <p:cNvSpPr/>
          <p:nvPr/>
        </p:nvSpPr>
        <p:spPr>
          <a:xfrm>
            <a:off x="3291840" y="1389888"/>
            <a:ext cx="2743200" cy="1188720"/>
          </a:xfrm>
          <a:prstGeom prst="rect">
            <a:avLst/>
          </a:prstGeom>
          <a:solidFill>
            <a:srgbClr val="0C0C14"/>
          </a:solidFill>
          <a:ln w="12700">
            <a:solidFill>
              <a:srgbClr val="0C0C14"/>
            </a:solidFill>
            <a:prstDash val="solid"/>
          </a:ln>
        </p:spPr>
        <p:txBody>
          <a:bodyPr/>
          <a:p/>
        </p:txBody>
      </p:sp>
      <p:sp>
        <p:nvSpPr>
          <p:cNvPr id="9" name="Text 7"/>
          <p:cNvSpPr/>
          <p:nvPr/>
        </p:nvSpPr>
        <p:spPr>
          <a:xfrm>
            <a:off x="3438144" y="1463040"/>
            <a:ext cx="2450592" cy="594360"/>
          </a:xfrm>
          <a:prstGeom prst="rect">
            <a:avLst/>
          </a:prstGeom>
          <a:noFill/>
          <a:ln/>
        </p:spPr>
        <p:txBody>
          <a:bodyPr wrap="square" rtlCol="0" anchor="ctr"/>
          <a:lstStyle/>
          <a:p>
            <a:pPr marL="0" indent="0">
              <a:buNone/>
            </a:pPr>
            <a:r>
              <a:rPr lang="en-US" sz="3000" b="1" dirty="0">
                <a:solidFill>
                  <a:srgbClr val="C8F064"/>
                </a:solidFill>
                <a:latin typeface="Trebuchet MS" pitchFamily="34" charset="0"/>
                <a:ea typeface="Trebuchet MS" pitchFamily="34" charset="-122"/>
                <a:cs typeface="Trebuchet MS" pitchFamily="34" charset="-120"/>
              </a:rPr>
              <a:t>~1 week</a:t>
            </a:r>
            <a:endParaRPr lang="en-US" sz="3000" dirty="0"/>
          </a:p>
        </p:txBody>
      </p:sp>
      <p:sp>
        <p:nvSpPr>
          <p:cNvPr id="10" name="Text 8"/>
          <p:cNvSpPr/>
          <p:nvPr/>
        </p:nvSpPr>
        <p:spPr>
          <a:xfrm>
            <a:off x="3438144" y="2029968"/>
            <a:ext cx="2450592" cy="457200"/>
          </a:xfrm>
          <a:prstGeom prst="rect">
            <a:avLst/>
          </a:prstGeom>
          <a:noFill/>
          <a:ln/>
        </p:spPr>
        <p:txBody>
          <a:bodyPr wrap="square" rtlCol="0" anchor="ctr"/>
          <a:lstStyle/>
          <a:p>
            <a:pPr marL="0" indent="0">
              <a:buNone/>
            </a:pPr>
            <a:r>
              <a:rPr lang="en-US" sz="1000" dirty="0">
                <a:solidFill>
                  <a:srgbClr val="8A8AA8"/>
                </a:solidFill>
                <a:latin typeface="Calibri" pitchFamily="34" charset="0"/>
                <a:ea typeface="Calibri" pitchFamily="34" charset="-122"/>
                <a:cs typeface="Calibri" pitchFamily="34" charset="-120"/>
              </a:rPr>
              <a:t>to your first</a:t>
            </a:r>
            <a:endParaRPr lang="en-US" sz="1000" dirty="0"/>
          </a:p>
          <a:p>
            <a:pPr marL="0" indent="0">
              <a:buNone/>
            </a:pPr>
            <a:r>
              <a:rPr lang="en-US" sz="1000" dirty="0">
                <a:solidFill>
                  <a:srgbClr val="8A8AA8"/>
                </a:solidFill>
                <a:latin typeface="Calibri" pitchFamily="34" charset="0"/>
                <a:ea typeface="Calibri" pitchFamily="34" charset="-122"/>
                <a:cs typeface="Calibri" pitchFamily="34" charset="-120"/>
              </a:rPr>
              <a:t>client pitch</a:t>
            </a:r>
            <a:endParaRPr lang="en-US" sz="1000" dirty="0"/>
          </a:p>
        </p:txBody>
      </p:sp>
      <p:sp>
        <p:nvSpPr>
          <p:cNvPr id="11" name="Shape 9"/>
          <p:cNvSpPr/>
          <p:nvPr/>
        </p:nvSpPr>
        <p:spPr>
          <a:xfrm>
            <a:off x="6199632" y="1389888"/>
            <a:ext cx="2743200" cy="1188720"/>
          </a:xfrm>
          <a:prstGeom prst="rect">
            <a:avLst/>
          </a:prstGeom>
          <a:solidFill>
            <a:srgbClr val="0C0C14"/>
          </a:solidFill>
          <a:ln w="12700">
            <a:solidFill>
              <a:srgbClr val="0C0C14"/>
            </a:solidFill>
            <a:prstDash val="solid"/>
          </a:ln>
        </p:spPr>
        <p:txBody>
          <a:bodyPr/>
          <a:p/>
        </p:txBody>
      </p:sp>
      <p:sp>
        <p:nvSpPr>
          <p:cNvPr id="12" name="Text 10"/>
          <p:cNvSpPr/>
          <p:nvPr/>
        </p:nvSpPr>
        <p:spPr>
          <a:xfrm>
            <a:off x="6345936" y="1463040"/>
            <a:ext cx="2450592" cy="594360"/>
          </a:xfrm>
          <a:prstGeom prst="rect">
            <a:avLst/>
          </a:prstGeom>
          <a:noFill/>
          <a:ln/>
        </p:spPr>
        <p:txBody>
          <a:bodyPr wrap="square" rtlCol="0" anchor="ctr"/>
          <a:lstStyle/>
          <a:p>
            <a:pPr marL="0" indent="0">
              <a:buNone/>
            </a:pPr>
            <a:r>
              <a:rPr lang="en-US" sz="3000" b="1" dirty="0">
                <a:solidFill>
                  <a:srgbClr val="C8F064"/>
                </a:solidFill>
                <a:latin typeface="Trebuchet MS" pitchFamily="34" charset="0"/>
                <a:ea typeface="Trebuchet MS" pitchFamily="34" charset="-122"/>
                <a:cs typeface="Trebuchet MS" pitchFamily="34" charset="-120"/>
              </a:rPr>
              <a:t>₦150k+</a:t>
            </a:r>
            <a:endParaRPr lang="en-US" sz="3000" dirty="0"/>
          </a:p>
        </p:txBody>
      </p:sp>
      <p:sp>
        <p:nvSpPr>
          <p:cNvPr id="13" name="Text 11"/>
          <p:cNvSpPr/>
          <p:nvPr/>
        </p:nvSpPr>
        <p:spPr>
          <a:xfrm>
            <a:off x="6345936" y="2029968"/>
            <a:ext cx="2450592" cy="457200"/>
          </a:xfrm>
          <a:prstGeom prst="rect">
            <a:avLst/>
          </a:prstGeom>
          <a:noFill/>
          <a:ln/>
        </p:spPr>
        <p:txBody>
          <a:bodyPr wrap="square" rtlCol="0" anchor="ctr"/>
          <a:lstStyle/>
          <a:p>
            <a:pPr marL="0" indent="0">
              <a:buNone/>
            </a:pPr>
            <a:r>
              <a:rPr lang="en-US" sz="1000" dirty="0">
                <a:solidFill>
                  <a:srgbClr val="8A8AA8"/>
                </a:solidFill>
                <a:latin typeface="Calibri" pitchFamily="34" charset="0"/>
                <a:ea typeface="Calibri" pitchFamily="34" charset="-122"/>
                <a:cs typeface="Calibri" pitchFamily="34" charset="-120"/>
              </a:rPr>
              <a:t>minimum project</a:t>
            </a:r>
            <a:endParaRPr lang="en-US" sz="1000" dirty="0"/>
          </a:p>
          <a:p>
            <a:pPr marL="0" indent="0">
              <a:buNone/>
            </a:pPr>
            <a:r>
              <a:rPr lang="en-US" sz="1000" dirty="0">
                <a:solidFill>
                  <a:srgbClr val="8A8AA8"/>
                </a:solidFill>
                <a:latin typeface="Calibri" pitchFamily="34" charset="0"/>
                <a:ea typeface="Calibri" pitchFamily="34" charset="-122"/>
                <a:cs typeface="Calibri" pitchFamily="34" charset="-120"/>
              </a:rPr>
              <a:t>fee for basic work</a:t>
            </a:r>
            <a:endParaRPr lang="en-US" sz="1000" dirty="0"/>
          </a:p>
        </p:txBody>
      </p:sp>
      <p:sp>
        <p:nvSpPr>
          <p:cNvPr id="14" name="Text 12"/>
          <p:cNvSpPr/>
          <p:nvPr/>
        </p:nvSpPr>
        <p:spPr>
          <a:xfrm>
            <a:off x="384048" y="2798064"/>
            <a:ext cx="8229600" cy="256032"/>
          </a:xfrm>
          <a:prstGeom prst="rect">
            <a:avLst/>
          </a:prstGeom>
          <a:noFill/>
          <a:ln/>
        </p:spPr>
        <p:txBody>
          <a:bodyPr wrap="square" rtlCol="0" anchor="ctr"/>
          <a:lstStyle/>
          <a:p>
            <a:pPr marL="0" indent="0">
              <a:buNone/>
            </a:pPr>
            <a:r>
              <a:rPr lang="en-US" sz="900" b="1" kern="0" spc="400" dirty="0">
                <a:solidFill>
                  <a:srgbClr val="6B6B82"/>
                </a:solidFill>
                <a:latin typeface="Trebuchet MS" pitchFamily="34" charset="0"/>
                <a:ea typeface="Trebuchet MS" pitchFamily="34" charset="-122"/>
                <a:cs typeface="Trebuchet MS" pitchFamily="34" charset="-120"/>
              </a:rPr>
              <a:t>PRICING MODELS</a:t>
            </a:r>
            <a:endParaRPr lang="en-US" sz="900" dirty="0"/>
          </a:p>
        </p:txBody>
      </p:sp>
      <p:sp>
        <p:nvSpPr>
          <p:cNvPr id="15" name="Shape 13"/>
          <p:cNvSpPr/>
          <p:nvPr/>
        </p:nvSpPr>
        <p:spPr>
          <a:xfrm>
            <a:off x="384048" y="3145536"/>
            <a:ext cx="2743200" cy="1600200"/>
          </a:xfrm>
          <a:prstGeom prst="rect">
            <a:avLst/>
          </a:prstGeom>
          <a:solidFill>
            <a:srgbClr val="F4F3FB"/>
          </a:solidFill>
          <a:ln w="10160">
            <a:solidFill>
              <a:srgbClr val="E4E2F2"/>
            </a:solidFill>
            <a:prstDash val="solid"/>
          </a:ln>
        </p:spPr>
        <p:txBody>
          <a:bodyPr/>
          <a:p/>
        </p:txBody>
      </p:sp>
      <p:sp>
        <p:nvSpPr>
          <p:cNvPr id="16" name="Text 14"/>
          <p:cNvSpPr/>
          <p:nvPr/>
        </p:nvSpPr>
        <p:spPr>
          <a:xfrm>
            <a:off x="530352" y="3273552"/>
            <a:ext cx="2450592" cy="320040"/>
          </a:xfrm>
          <a:prstGeom prst="rect">
            <a:avLst/>
          </a:prstGeom>
          <a:noFill/>
          <a:ln/>
        </p:spPr>
        <p:txBody>
          <a:bodyPr wrap="square" rtlCol="0" anchor="ctr"/>
          <a:lstStyle/>
          <a:p>
            <a:pPr marL="0" indent="0">
              <a:buNone/>
            </a:pPr>
            <a:r>
              <a:rPr lang="en-US" sz="1300" b="1" dirty="0">
                <a:solidFill>
                  <a:srgbClr val="0C0C14"/>
                </a:solidFill>
                <a:latin typeface="Trebuchet MS" pitchFamily="34" charset="0"/>
                <a:ea typeface="Trebuchet MS" pitchFamily="34" charset="-122"/>
                <a:cs typeface="Trebuchet MS" pitchFamily="34" charset="-120"/>
              </a:rPr>
              <a:t>Project-based</a:t>
            </a:r>
            <a:endParaRPr lang="en-US" sz="1300" dirty="0"/>
          </a:p>
        </p:txBody>
      </p:sp>
      <p:sp>
        <p:nvSpPr>
          <p:cNvPr id="17" name="Text 15"/>
          <p:cNvSpPr/>
          <p:nvPr/>
        </p:nvSpPr>
        <p:spPr>
          <a:xfrm>
            <a:off x="530352" y="3621024"/>
            <a:ext cx="2450592" cy="292608"/>
          </a:xfrm>
          <a:prstGeom prst="rect">
            <a:avLst/>
          </a:prstGeom>
          <a:noFill/>
          <a:ln/>
        </p:spPr>
        <p:txBody>
          <a:bodyPr wrap="square" rtlCol="0" anchor="ctr"/>
          <a:lstStyle/>
          <a:p>
            <a:pPr marL="0" indent="0">
              <a:buNone/>
            </a:pPr>
            <a:r>
              <a:rPr lang="en-US" sz="1200" b="1" dirty="0">
                <a:solidFill>
                  <a:srgbClr val="3A7A10"/>
                </a:solidFill>
                <a:latin typeface="Trebuchet MS" pitchFamily="34" charset="0"/>
                <a:ea typeface="Trebuchet MS" pitchFamily="34" charset="-122"/>
                <a:cs typeface="Trebuchet MS" pitchFamily="34" charset="-120"/>
              </a:rPr>
              <a:t>₦100k - ₦500k</a:t>
            </a:r>
            <a:endParaRPr lang="en-US" sz="1200" dirty="0"/>
          </a:p>
        </p:txBody>
      </p:sp>
      <p:sp>
        <p:nvSpPr>
          <p:cNvPr id="18" name="Text 16"/>
          <p:cNvSpPr/>
          <p:nvPr/>
        </p:nvSpPr>
        <p:spPr>
          <a:xfrm>
            <a:off x="530352" y="3950208"/>
            <a:ext cx="2450592" cy="685800"/>
          </a:xfrm>
          <a:prstGeom prst="rect">
            <a:avLst/>
          </a:prstGeom>
          <a:noFill/>
          <a:ln/>
        </p:spPr>
        <p:txBody>
          <a:bodyPr wrap="square" rtlCol="0" anchor="ctr"/>
          <a:lstStyle/>
          <a:p>
            <a:pPr marL="0" indent="0">
              <a:buNone/>
            </a:pPr>
            <a:r>
              <a:rPr lang="en-US" sz="1050" dirty="0">
                <a:solidFill>
                  <a:srgbClr val="6B6B82"/>
                </a:solidFill>
                <a:latin typeface="Calibri" pitchFamily="34" charset="0"/>
                <a:ea typeface="Calibri" pitchFamily="34" charset="-122"/>
                <a:cs typeface="Calibri" pitchFamily="34" charset="-120"/>
              </a:rPr>
              <a:t>One-off build. Fast cash but no income stability month to month.</a:t>
            </a:r>
            <a:endParaRPr lang="en-US" sz="1050" dirty="0"/>
          </a:p>
        </p:txBody>
      </p:sp>
      <p:sp>
        <p:nvSpPr>
          <p:cNvPr id="19" name="Shape 17"/>
          <p:cNvSpPr/>
          <p:nvPr/>
        </p:nvSpPr>
        <p:spPr>
          <a:xfrm>
            <a:off x="3291840" y="3145536"/>
            <a:ext cx="2743200" cy="1600200"/>
          </a:xfrm>
          <a:prstGeom prst="rect">
            <a:avLst/>
          </a:prstGeom>
          <a:solidFill>
            <a:srgbClr val="F4F3FB"/>
          </a:solidFill>
          <a:ln w="10160">
            <a:solidFill>
              <a:srgbClr val="E4E2F2"/>
            </a:solidFill>
            <a:prstDash val="solid"/>
          </a:ln>
        </p:spPr>
        <p:txBody>
          <a:bodyPr/>
          <a:p/>
        </p:txBody>
      </p:sp>
      <p:sp>
        <p:nvSpPr>
          <p:cNvPr id="20" name="Text 18"/>
          <p:cNvSpPr/>
          <p:nvPr/>
        </p:nvSpPr>
        <p:spPr>
          <a:xfrm>
            <a:off x="3438144" y="3273552"/>
            <a:ext cx="2450592" cy="320040"/>
          </a:xfrm>
          <a:prstGeom prst="rect">
            <a:avLst/>
          </a:prstGeom>
          <a:noFill/>
          <a:ln/>
        </p:spPr>
        <p:txBody>
          <a:bodyPr wrap="square" rtlCol="0" anchor="ctr"/>
          <a:lstStyle/>
          <a:p>
            <a:pPr marL="0" indent="0">
              <a:buNone/>
            </a:pPr>
            <a:r>
              <a:rPr lang="en-US" sz="1300" b="1" dirty="0">
                <a:solidFill>
                  <a:srgbClr val="0C0C14"/>
                </a:solidFill>
                <a:latin typeface="Trebuchet MS" pitchFamily="34" charset="0"/>
                <a:ea typeface="Trebuchet MS" pitchFamily="34" charset="-122"/>
                <a:cs typeface="Trebuchet MS" pitchFamily="34" charset="-120"/>
              </a:rPr>
              <a:t>Retainer</a:t>
            </a:r>
            <a:endParaRPr lang="en-US" sz="1300" dirty="0"/>
          </a:p>
        </p:txBody>
      </p:sp>
      <p:sp>
        <p:nvSpPr>
          <p:cNvPr id="21" name="Text 19"/>
          <p:cNvSpPr/>
          <p:nvPr/>
        </p:nvSpPr>
        <p:spPr>
          <a:xfrm>
            <a:off x="3438144" y="3621024"/>
            <a:ext cx="2450592" cy="292608"/>
          </a:xfrm>
          <a:prstGeom prst="rect">
            <a:avLst/>
          </a:prstGeom>
          <a:noFill/>
          <a:ln/>
        </p:spPr>
        <p:txBody>
          <a:bodyPr wrap="square" rtlCol="0" anchor="ctr"/>
          <a:lstStyle/>
          <a:p>
            <a:pPr marL="0" indent="0">
              <a:buNone/>
            </a:pPr>
            <a:r>
              <a:rPr lang="en-US" sz="1200" b="1" dirty="0">
                <a:solidFill>
                  <a:srgbClr val="3A7A10"/>
                </a:solidFill>
                <a:latin typeface="Trebuchet MS" pitchFamily="34" charset="0"/>
                <a:ea typeface="Trebuchet MS" pitchFamily="34" charset="-122"/>
                <a:cs typeface="Trebuchet MS" pitchFamily="34" charset="-120"/>
              </a:rPr>
              <a:t>₦80k - ₦200k/mo</a:t>
            </a:r>
            <a:endParaRPr lang="en-US" sz="1200" dirty="0"/>
          </a:p>
        </p:txBody>
      </p:sp>
      <p:sp>
        <p:nvSpPr>
          <p:cNvPr id="22" name="Text 20"/>
          <p:cNvSpPr/>
          <p:nvPr/>
        </p:nvSpPr>
        <p:spPr>
          <a:xfrm>
            <a:off x="3438144" y="3950208"/>
            <a:ext cx="2450592" cy="685800"/>
          </a:xfrm>
          <a:prstGeom prst="rect">
            <a:avLst/>
          </a:prstGeom>
          <a:noFill/>
          <a:ln/>
        </p:spPr>
        <p:txBody>
          <a:bodyPr wrap="square" rtlCol="0" anchor="ctr"/>
          <a:lstStyle/>
          <a:p>
            <a:pPr marL="0" indent="0">
              <a:buNone/>
            </a:pPr>
            <a:r>
              <a:rPr lang="en-US" sz="1050" dirty="0">
                <a:solidFill>
                  <a:srgbClr val="6B6B82"/>
                </a:solidFill>
                <a:latin typeface="Calibri" pitchFamily="34" charset="0"/>
                <a:ea typeface="Calibri" pitchFamily="34" charset="-122"/>
                <a:cs typeface="Calibri" pitchFamily="34" charset="-120"/>
              </a:rPr>
              <a:t>Monthly recurring revenue. The best structure for long-term income.</a:t>
            </a:r>
            <a:endParaRPr lang="en-US" sz="1050" dirty="0"/>
          </a:p>
        </p:txBody>
      </p:sp>
      <p:sp>
        <p:nvSpPr>
          <p:cNvPr id="23" name="Shape 21"/>
          <p:cNvSpPr/>
          <p:nvPr/>
        </p:nvSpPr>
        <p:spPr>
          <a:xfrm>
            <a:off x="6199632" y="3145536"/>
            <a:ext cx="2743200" cy="1600200"/>
          </a:xfrm>
          <a:prstGeom prst="rect">
            <a:avLst/>
          </a:prstGeom>
          <a:solidFill>
            <a:srgbClr val="F4F3FB"/>
          </a:solidFill>
          <a:ln w="10160">
            <a:solidFill>
              <a:srgbClr val="E4E2F2"/>
            </a:solidFill>
            <a:prstDash val="solid"/>
          </a:ln>
        </p:spPr>
        <p:txBody>
          <a:bodyPr/>
          <a:p/>
        </p:txBody>
      </p:sp>
      <p:sp>
        <p:nvSpPr>
          <p:cNvPr id="24" name="Text 22"/>
          <p:cNvSpPr/>
          <p:nvPr/>
        </p:nvSpPr>
        <p:spPr>
          <a:xfrm>
            <a:off x="6345936" y="3273552"/>
            <a:ext cx="2450592" cy="320040"/>
          </a:xfrm>
          <a:prstGeom prst="rect">
            <a:avLst/>
          </a:prstGeom>
          <a:noFill/>
          <a:ln/>
        </p:spPr>
        <p:txBody>
          <a:bodyPr wrap="square" rtlCol="0" anchor="ctr"/>
          <a:lstStyle/>
          <a:p>
            <a:pPr marL="0" indent="0">
              <a:buNone/>
            </a:pPr>
            <a:r>
              <a:rPr lang="en-US" sz="1300" b="1" dirty="0">
                <a:solidFill>
                  <a:srgbClr val="0C0C14"/>
                </a:solidFill>
                <a:latin typeface="Trebuchet MS" pitchFamily="34" charset="0"/>
                <a:ea typeface="Trebuchet MS" pitchFamily="34" charset="-122"/>
                <a:cs typeface="Trebuchet MS" pitchFamily="34" charset="-120"/>
              </a:rPr>
              <a:t>Revenue share</a:t>
            </a:r>
            <a:endParaRPr lang="en-US" sz="1300" dirty="0"/>
          </a:p>
        </p:txBody>
      </p:sp>
      <p:sp>
        <p:nvSpPr>
          <p:cNvPr id="25" name="Text 23"/>
          <p:cNvSpPr/>
          <p:nvPr/>
        </p:nvSpPr>
        <p:spPr>
          <a:xfrm>
            <a:off x="6345936" y="3621024"/>
            <a:ext cx="2450592" cy="292608"/>
          </a:xfrm>
          <a:prstGeom prst="rect">
            <a:avLst/>
          </a:prstGeom>
          <a:noFill/>
          <a:ln/>
        </p:spPr>
        <p:txBody>
          <a:bodyPr wrap="square" rtlCol="0" anchor="ctr"/>
          <a:lstStyle/>
          <a:p>
            <a:pPr marL="0" indent="0">
              <a:buNone/>
            </a:pPr>
            <a:r>
              <a:rPr lang="en-US" sz="1200" b="1" dirty="0">
                <a:solidFill>
                  <a:srgbClr val="3A7A10"/>
                </a:solidFill>
                <a:latin typeface="Trebuchet MS" pitchFamily="34" charset="0"/>
                <a:ea typeface="Trebuchet MS" pitchFamily="34" charset="-122"/>
                <a:cs typeface="Trebuchet MS" pitchFamily="34" charset="-120"/>
              </a:rPr>
              <a:t>% of results</a:t>
            </a:r>
            <a:endParaRPr lang="en-US" sz="1200" dirty="0"/>
          </a:p>
        </p:txBody>
      </p:sp>
      <p:sp>
        <p:nvSpPr>
          <p:cNvPr id="26" name="Text 24"/>
          <p:cNvSpPr/>
          <p:nvPr/>
        </p:nvSpPr>
        <p:spPr>
          <a:xfrm>
            <a:off x="6345936" y="3950208"/>
            <a:ext cx="2450592" cy="685800"/>
          </a:xfrm>
          <a:prstGeom prst="rect">
            <a:avLst/>
          </a:prstGeom>
          <a:noFill/>
          <a:ln/>
        </p:spPr>
        <p:txBody>
          <a:bodyPr wrap="square" rtlCol="0" anchor="ctr"/>
          <a:lstStyle/>
          <a:p>
            <a:pPr marL="0" indent="0">
              <a:buNone/>
            </a:pPr>
            <a:r>
              <a:rPr lang="en-US" sz="1050" dirty="0">
                <a:solidFill>
                  <a:srgbClr val="6B6B82"/>
                </a:solidFill>
                <a:latin typeface="Calibri" pitchFamily="34" charset="0"/>
                <a:ea typeface="Calibri" pitchFamily="34" charset="-122"/>
                <a:cs typeface="Calibri" pitchFamily="34" charset="-120"/>
              </a:rPr>
              <a:t>High risk, high reward. Only for confident niches with clear ROI for the client.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C14"/>
        </a:solidFill>
        <a:effectLst/>
      </p:bgPr>
    </p:bg>
    <p:spTree>
      <p:nvGrpSpPr>
        <p:cNvPr id="1" name=""/>
        <p:cNvGrpSpPr/>
        <p:nvPr/>
      </p:nvGrpSpPr>
      <p:grpSpPr>
        <a:xfrm>
          <a:off x="0" y="0"/>
          <a:ext cx="0" cy="0"/>
          <a:chOff x="0" y="0"/>
          <a:chExt cx="0" cy="0"/>
        </a:xfrm>
      </p:grpSpPr>
      <p:sp>
        <p:nvSpPr>
          <p:cNvPr id="2" name="Text 0"/>
          <p:cNvSpPr/>
          <p:nvPr/>
        </p:nvSpPr>
        <p:spPr>
          <a:xfrm>
            <a:off x="5943600" y="0"/>
            <a:ext cx="3657600" cy="2926080"/>
          </a:xfrm>
          <a:prstGeom prst="rect">
            <a:avLst/>
          </a:prstGeom>
          <a:noFill/>
          <a:ln/>
        </p:spPr>
        <p:txBody>
          <a:bodyPr wrap="square" rtlCol="0" anchor="ctr"/>
          <a:lstStyle/>
          <a:p>
            <a:pPr marL="0" indent="0" algn="r">
              <a:buNone/>
            </a:pPr>
            <a:r>
              <a:rPr lang="en-US" sz="19000" b="1" dirty="0">
                <a:solidFill>
                  <a:srgbClr val="F0EFF8"/>
                </a:solidFill>
                <a:latin typeface="Trebuchet MS" pitchFamily="34" charset="0"/>
                <a:ea typeface="Trebuchet MS" pitchFamily="34" charset="-122"/>
                <a:cs typeface="Trebuchet MS" pitchFamily="34" charset="-120"/>
              </a:rPr>
              <a:t>04</a:t>
            </a:r>
            <a:endParaRPr lang="en-US" sz="19000" dirty="0"/>
          </a:p>
        </p:txBody>
      </p:sp>
      <p:sp>
        <p:nvSpPr>
          <p:cNvPr id="3" name="Text 1"/>
          <p:cNvSpPr/>
          <p:nvPr/>
        </p:nvSpPr>
        <p:spPr>
          <a:xfrm>
            <a:off x="457200" y="274320"/>
            <a:ext cx="5486400" cy="256032"/>
          </a:xfrm>
          <a:prstGeom prst="rect">
            <a:avLst/>
          </a:prstGeom>
          <a:noFill/>
          <a:ln/>
        </p:spPr>
        <p:txBody>
          <a:bodyPr wrap="square" rtlCol="0" anchor="ctr"/>
          <a:lstStyle/>
          <a:p>
            <a:pPr marL="0" indent="0">
              <a:buNone/>
            </a:pPr>
            <a:r>
              <a:rPr lang="en-US" sz="1000" b="1" kern="0" spc="500" dirty="0">
                <a:solidFill>
                  <a:srgbClr val="C8F064"/>
                </a:solidFill>
                <a:latin typeface="Trebuchet MS" pitchFamily="34" charset="0"/>
                <a:ea typeface="Trebuchet MS" pitchFamily="34" charset="-122"/>
                <a:cs typeface="Trebuchet MS" pitchFamily="34" charset="-120"/>
              </a:rPr>
              <a:t>SESSION  04</a:t>
            </a:r>
            <a:endParaRPr lang="en-US" sz="1000" dirty="0"/>
          </a:p>
        </p:txBody>
      </p:sp>
      <p:sp>
        <p:nvSpPr>
          <p:cNvPr id="4" name="Text 2"/>
          <p:cNvSpPr/>
          <p:nvPr/>
        </p:nvSpPr>
        <p:spPr>
          <a:xfrm>
            <a:off x="457200" y="566928"/>
            <a:ext cx="6583680" cy="128016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Opportunities &amp;</a:t>
            </a:r>
            <a:endParaRPr lang="en-US" sz="2800" dirty="0"/>
          </a:p>
          <a:p>
            <a:pPr marL="0" indent="0">
              <a:buNone/>
            </a:pPr>
            <a:r>
              <a:rPr lang="en-US" sz="2800" b="1" dirty="0">
                <a:solidFill>
                  <a:srgbClr val="FFFFFF"/>
                </a:solidFill>
                <a:latin typeface="Trebuchet MS" pitchFamily="34" charset="0"/>
                <a:ea typeface="Trebuchet MS" pitchFamily="34" charset="-122"/>
                <a:cs typeface="Trebuchet MS" pitchFamily="34" charset="-120"/>
              </a:rPr>
              <a:t>where to play</a:t>
            </a:r>
            <a:endParaRPr lang="en-US" sz="2800" dirty="0"/>
          </a:p>
        </p:txBody>
      </p:sp>
      <p:sp>
        <p:nvSpPr>
          <p:cNvPr id="5" name="Text 3"/>
          <p:cNvSpPr/>
          <p:nvPr/>
        </p:nvSpPr>
        <p:spPr>
          <a:xfrm>
            <a:off x="457200" y="1920240"/>
            <a:ext cx="8229600" cy="256032"/>
          </a:xfrm>
          <a:prstGeom prst="rect">
            <a:avLst/>
          </a:prstGeom>
          <a:noFill/>
          <a:ln/>
        </p:spPr>
        <p:txBody>
          <a:bodyPr wrap="square" rtlCol="0" anchor="ctr"/>
          <a:lstStyle/>
          <a:p>
            <a:pPr marL="0" indent="0">
              <a:buNone/>
            </a:pPr>
            <a:r>
              <a:rPr lang="en-US" sz="900" b="1" kern="0" spc="400" dirty="0">
                <a:solidFill>
                  <a:srgbClr val="8A8AA8"/>
                </a:solidFill>
                <a:latin typeface="Trebuchet MS" pitchFamily="34" charset="0"/>
                <a:ea typeface="Trebuchet MS" pitchFamily="34" charset="-122"/>
                <a:cs typeface="Trebuchet MS" pitchFamily="34" charset="-120"/>
              </a:rPr>
              <a:t>TOP 5 USE CASES</a:t>
            </a:r>
            <a:endParaRPr lang="en-US" sz="900" dirty="0"/>
          </a:p>
        </p:txBody>
      </p:sp>
      <p:sp>
        <p:nvSpPr>
          <p:cNvPr id="6" name="Shape 4"/>
          <p:cNvSpPr/>
          <p:nvPr/>
        </p:nvSpPr>
        <p:spPr>
          <a:xfrm>
            <a:off x="457200" y="2267712"/>
            <a:ext cx="2578608" cy="420624"/>
          </a:xfrm>
          <a:prstGeom prst="rect">
            <a:avLst/>
          </a:prstGeom>
          <a:solidFill>
            <a:srgbClr val="162310"/>
          </a:solidFill>
          <a:ln w="19050">
            <a:solidFill>
              <a:srgbClr val="C8F064"/>
            </a:solidFill>
            <a:prstDash val="solid"/>
          </a:ln>
        </p:spPr>
      </p:sp>
      <p:sp>
        <p:nvSpPr>
          <p:cNvPr id="7" name="Text 5"/>
          <p:cNvSpPr/>
          <p:nvPr/>
        </p:nvSpPr>
        <p:spPr>
          <a:xfrm>
            <a:off x="585216" y="2267712"/>
            <a:ext cx="2450592" cy="420624"/>
          </a:xfrm>
          <a:prstGeom prst="rect">
            <a:avLst/>
          </a:prstGeom>
          <a:noFill/>
          <a:ln/>
        </p:spPr>
        <p:txBody>
          <a:bodyPr wrap="square" rtlCol="0" anchor="ctr"/>
          <a:lstStyle/>
          <a:p>
            <a:pPr marL="0" indent="0">
              <a:buNone/>
            </a:pPr>
            <a:r>
              <a:rPr lang="en-US" sz="1150" b="1" dirty="0">
                <a:solidFill>
                  <a:srgbClr val="C8F064"/>
                </a:solidFill>
                <a:latin typeface="Calibri" pitchFamily="34" charset="0"/>
                <a:ea typeface="Calibri" pitchFamily="34" charset="-122"/>
                <a:cs typeface="Calibri" pitchFamily="34" charset="-120"/>
              </a:rPr>
              <a:t>Lead generation</a:t>
            </a:r>
            <a:endParaRPr lang="en-US" sz="1150" dirty="0"/>
          </a:p>
        </p:txBody>
      </p:sp>
      <p:sp>
        <p:nvSpPr>
          <p:cNvPr id="8" name="Shape 6"/>
          <p:cNvSpPr/>
          <p:nvPr/>
        </p:nvSpPr>
        <p:spPr>
          <a:xfrm>
            <a:off x="3200400" y="2267712"/>
            <a:ext cx="2578608" cy="420624"/>
          </a:xfrm>
          <a:prstGeom prst="rect">
            <a:avLst/>
          </a:prstGeom>
          <a:solidFill>
            <a:srgbClr val="1E1E32"/>
          </a:solidFill>
          <a:ln w="10160">
            <a:solidFill>
              <a:srgbClr val="282845"/>
            </a:solidFill>
            <a:prstDash val="solid"/>
          </a:ln>
        </p:spPr>
      </p:sp>
      <p:sp>
        <p:nvSpPr>
          <p:cNvPr id="9" name="Text 7"/>
          <p:cNvSpPr/>
          <p:nvPr/>
        </p:nvSpPr>
        <p:spPr>
          <a:xfrm>
            <a:off x="3328416" y="2267712"/>
            <a:ext cx="2450592" cy="420624"/>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Customer support</a:t>
            </a:r>
            <a:endParaRPr lang="en-US" sz="1150" dirty="0"/>
          </a:p>
        </p:txBody>
      </p:sp>
      <p:sp>
        <p:nvSpPr>
          <p:cNvPr id="10" name="Shape 8"/>
          <p:cNvSpPr/>
          <p:nvPr/>
        </p:nvSpPr>
        <p:spPr>
          <a:xfrm>
            <a:off x="5943600" y="2267712"/>
            <a:ext cx="2578608" cy="420624"/>
          </a:xfrm>
          <a:prstGeom prst="rect">
            <a:avLst/>
          </a:prstGeom>
          <a:solidFill>
            <a:srgbClr val="1E1E32"/>
          </a:solidFill>
          <a:ln w="10160">
            <a:solidFill>
              <a:srgbClr val="282845"/>
            </a:solidFill>
            <a:prstDash val="solid"/>
          </a:ln>
        </p:spPr>
      </p:sp>
      <p:sp>
        <p:nvSpPr>
          <p:cNvPr id="11" name="Text 9"/>
          <p:cNvSpPr/>
          <p:nvPr/>
        </p:nvSpPr>
        <p:spPr>
          <a:xfrm>
            <a:off x="6071616" y="2267712"/>
            <a:ext cx="2450592" cy="420624"/>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Operations</a:t>
            </a:r>
            <a:endParaRPr lang="en-US" sz="1150" dirty="0"/>
          </a:p>
        </p:txBody>
      </p:sp>
      <p:sp>
        <p:nvSpPr>
          <p:cNvPr id="12" name="Shape 10"/>
          <p:cNvSpPr/>
          <p:nvPr/>
        </p:nvSpPr>
        <p:spPr>
          <a:xfrm>
            <a:off x="457200" y="2816352"/>
            <a:ext cx="2578608" cy="420624"/>
          </a:xfrm>
          <a:prstGeom prst="rect">
            <a:avLst/>
          </a:prstGeom>
          <a:solidFill>
            <a:srgbClr val="1E1E32"/>
          </a:solidFill>
          <a:ln w="10160">
            <a:solidFill>
              <a:srgbClr val="282845"/>
            </a:solidFill>
            <a:prstDash val="solid"/>
          </a:ln>
        </p:spPr>
      </p:sp>
      <p:sp>
        <p:nvSpPr>
          <p:cNvPr id="13" name="Text 11"/>
          <p:cNvSpPr/>
          <p:nvPr/>
        </p:nvSpPr>
        <p:spPr>
          <a:xfrm>
            <a:off x="585216" y="2816352"/>
            <a:ext cx="2450592" cy="420624"/>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Content pipelines</a:t>
            </a:r>
            <a:endParaRPr lang="en-US" sz="1150" dirty="0"/>
          </a:p>
        </p:txBody>
      </p:sp>
      <p:sp>
        <p:nvSpPr>
          <p:cNvPr id="14" name="Shape 12"/>
          <p:cNvSpPr/>
          <p:nvPr/>
        </p:nvSpPr>
        <p:spPr>
          <a:xfrm>
            <a:off x="3200400" y="2816352"/>
            <a:ext cx="2578608" cy="420624"/>
          </a:xfrm>
          <a:prstGeom prst="rect">
            <a:avLst/>
          </a:prstGeom>
          <a:solidFill>
            <a:srgbClr val="1E1E32"/>
          </a:solidFill>
          <a:ln w="10160">
            <a:solidFill>
              <a:srgbClr val="282845"/>
            </a:solidFill>
            <a:prstDash val="solid"/>
          </a:ln>
        </p:spPr>
      </p:sp>
      <p:sp>
        <p:nvSpPr>
          <p:cNvPr id="15" name="Text 13"/>
          <p:cNvSpPr/>
          <p:nvPr/>
        </p:nvSpPr>
        <p:spPr>
          <a:xfrm>
            <a:off x="3328416" y="2816352"/>
            <a:ext cx="2450592" cy="420624"/>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Client onboarding</a:t>
            </a:r>
            <a:endParaRPr lang="en-US" sz="1150" dirty="0"/>
          </a:p>
        </p:txBody>
      </p:sp>
      <p:sp>
        <p:nvSpPr>
          <p:cNvPr id="16" name="Text 14"/>
          <p:cNvSpPr/>
          <p:nvPr/>
        </p:nvSpPr>
        <p:spPr>
          <a:xfrm>
            <a:off x="457200" y="3493008"/>
            <a:ext cx="8229600" cy="256032"/>
          </a:xfrm>
          <a:prstGeom prst="rect">
            <a:avLst/>
          </a:prstGeom>
          <a:noFill/>
          <a:ln/>
        </p:spPr>
        <p:txBody>
          <a:bodyPr wrap="square" rtlCol="0" anchor="ctr"/>
          <a:lstStyle/>
          <a:p>
            <a:pPr marL="0" indent="0">
              <a:buNone/>
            </a:pPr>
            <a:r>
              <a:rPr lang="en-US" sz="900" b="1" kern="0" spc="400" dirty="0">
                <a:solidFill>
                  <a:srgbClr val="8A8AA8"/>
                </a:solidFill>
                <a:latin typeface="Trebuchet MS" pitchFamily="34" charset="0"/>
                <a:ea typeface="Trebuchet MS" pitchFamily="34" charset="-122"/>
                <a:cs typeface="Trebuchet MS" pitchFamily="34" charset="-120"/>
              </a:rPr>
              <a:t>INDUSTRIES SPENDING NOW</a:t>
            </a:r>
            <a:endParaRPr lang="en-US" sz="900" dirty="0"/>
          </a:p>
        </p:txBody>
      </p:sp>
      <p:sp>
        <p:nvSpPr>
          <p:cNvPr id="17" name="Shape 15"/>
          <p:cNvSpPr/>
          <p:nvPr/>
        </p:nvSpPr>
        <p:spPr>
          <a:xfrm>
            <a:off x="457200" y="3858768"/>
            <a:ext cx="146304" cy="146304"/>
          </a:xfrm>
          <a:prstGeom prst="ellipse">
            <a:avLst/>
          </a:prstGeom>
          <a:solidFill>
            <a:srgbClr val="C8F064"/>
          </a:solidFill>
          <a:ln w="12700">
            <a:solidFill>
              <a:srgbClr val="C8F064"/>
            </a:solidFill>
            <a:prstDash val="solid"/>
          </a:ln>
        </p:spPr>
      </p:sp>
      <p:sp>
        <p:nvSpPr>
          <p:cNvPr id="18" name="Text 16"/>
          <p:cNvSpPr/>
          <p:nvPr/>
        </p:nvSpPr>
        <p:spPr>
          <a:xfrm>
            <a:off x="676656" y="3822192"/>
            <a:ext cx="155448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Healthcare</a:t>
            </a:r>
            <a:endParaRPr lang="en-US" sz="1100" dirty="0"/>
          </a:p>
        </p:txBody>
      </p:sp>
      <p:sp>
        <p:nvSpPr>
          <p:cNvPr id="19" name="Shape 17"/>
          <p:cNvSpPr/>
          <p:nvPr/>
        </p:nvSpPr>
        <p:spPr>
          <a:xfrm>
            <a:off x="2194560" y="3858768"/>
            <a:ext cx="146304" cy="146304"/>
          </a:xfrm>
          <a:prstGeom prst="ellipse">
            <a:avLst/>
          </a:prstGeom>
          <a:solidFill>
            <a:srgbClr val="C8F064"/>
          </a:solidFill>
          <a:ln w="12700">
            <a:solidFill>
              <a:srgbClr val="C8F064"/>
            </a:solidFill>
            <a:prstDash val="solid"/>
          </a:ln>
        </p:spPr>
      </p:sp>
      <p:sp>
        <p:nvSpPr>
          <p:cNvPr id="20" name="Text 18"/>
          <p:cNvSpPr/>
          <p:nvPr/>
        </p:nvSpPr>
        <p:spPr>
          <a:xfrm>
            <a:off x="2414016" y="3822192"/>
            <a:ext cx="155448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Fintech</a:t>
            </a:r>
            <a:endParaRPr lang="en-US" sz="1100" dirty="0"/>
          </a:p>
        </p:txBody>
      </p:sp>
      <p:sp>
        <p:nvSpPr>
          <p:cNvPr id="21" name="Shape 19"/>
          <p:cNvSpPr/>
          <p:nvPr/>
        </p:nvSpPr>
        <p:spPr>
          <a:xfrm>
            <a:off x="3931920" y="3858768"/>
            <a:ext cx="146304" cy="146304"/>
          </a:xfrm>
          <a:prstGeom prst="ellipse">
            <a:avLst/>
          </a:prstGeom>
          <a:solidFill>
            <a:srgbClr val="C8F064"/>
          </a:solidFill>
          <a:ln w="12700">
            <a:solidFill>
              <a:srgbClr val="C8F064"/>
            </a:solidFill>
            <a:prstDash val="solid"/>
          </a:ln>
        </p:spPr>
      </p:sp>
      <p:sp>
        <p:nvSpPr>
          <p:cNvPr id="22" name="Text 20"/>
          <p:cNvSpPr/>
          <p:nvPr/>
        </p:nvSpPr>
        <p:spPr>
          <a:xfrm>
            <a:off x="4151376" y="3822192"/>
            <a:ext cx="155448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E-commerce</a:t>
            </a:r>
            <a:endParaRPr lang="en-US" sz="1100" dirty="0"/>
          </a:p>
        </p:txBody>
      </p:sp>
      <p:sp>
        <p:nvSpPr>
          <p:cNvPr id="23" name="Shape 21"/>
          <p:cNvSpPr/>
          <p:nvPr/>
        </p:nvSpPr>
        <p:spPr>
          <a:xfrm>
            <a:off x="5669280" y="3858768"/>
            <a:ext cx="146304" cy="146304"/>
          </a:xfrm>
          <a:prstGeom prst="ellipse">
            <a:avLst/>
          </a:prstGeom>
          <a:solidFill>
            <a:srgbClr val="C8F064"/>
          </a:solidFill>
          <a:ln w="12700">
            <a:solidFill>
              <a:srgbClr val="C8F064"/>
            </a:solidFill>
            <a:prstDash val="solid"/>
          </a:ln>
        </p:spPr>
      </p:sp>
      <p:sp>
        <p:nvSpPr>
          <p:cNvPr id="24" name="Text 22"/>
          <p:cNvSpPr/>
          <p:nvPr/>
        </p:nvSpPr>
        <p:spPr>
          <a:xfrm>
            <a:off x="5888736" y="3822192"/>
            <a:ext cx="155448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Real estate</a:t>
            </a:r>
            <a:endParaRPr lang="en-US" sz="1100" dirty="0"/>
          </a:p>
        </p:txBody>
      </p:sp>
      <p:sp>
        <p:nvSpPr>
          <p:cNvPr id="25" name="Shape 23"/>
          <p:cNvSpPr/>
          <p:nvPr/>
        </p:nvSpPr>
        <p:spPr>
          <a:xfrm>
            <a:off x="7406640" y="3858768"/>
            <a:ext cx="146304" cy="146304"/>
          </a:xfrm>
          <a:prstGeom prst="ellipse">
            <a:avLst/>
          </a:prstGeom>
          <a:solidFill>
            <a:srgbClr val="C8F064"/>
          </a:solidFill>
          <a:ln w="12700">
            <a:solidFill>
              <a:srgbClr val="C8F064"/>
            </a:solidFill>
            <a:prstDash val="solid"/>
          </a:ln>
        </p:spPr>
      </p:sp>
      <p:sp>
        <p:nvSpPr>
          <p:cNvPr id="26" name="Text 24"/>
          <p:cNvSpPr/>
          <p:nvPr/>
        </p:nvSpPr>
        <p:spPr>
          <a:xfrm>
            <a:off x="7626096" y="3822192"/>
            <a:ext cx="1554480" cy="256032"/>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Logistics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0" y="0"/>
            <a:ext cx="3657600" cy="2926080"/>
          </a:xfrm>
          <a:prstGeom prst="rect">
            <a:avLst/>
          </a:prstGeom>
          <a:noFill/>
          <a:ln/>
        </p:spPr>
        <p:txBody>
          <a:bodyPr wrap="square" rtlCol="0" anchor="ctr"/>
          <a:lstStyle/>
          <a:p>
            <a:pPr marL="0" indent="0" algn="r">
              <a:buNone/>
            </a:pPr>
            <a:r>
              <a:rPr lang="en-US" sz="19000" b="1" dirty="0">
                <a:solidFill>
                  <a:srgbClr val="F0EFF8"/>
                </a:solidFill>
                <a:latin typeface="Trebuchet MS" pitchFamily="34" charset="0"/>
                <a:ea typeface="Trebuchet MS" pitchFamily="34" charset="-122"/>
                <a:cs typeface="Trebuchet MS" pitchFamily="34" charset="-120"/>
              </a:rPr>
              <a:t>05</a:t>
            </a:r>
            <a:endParaRPr lang="en-US" sz="19000" dirty="0"/>
          </a:p>
        </p:txBody>
      </p:sp>
      <p:sp>
        <p:nvSpPr>
          <p:cNvPr id="3" name="Text 1"/>
          <p:cNvSpPr/>
          <p:nvPr/>
        </p:nvSpPr>
        <p:spPr>
          <a:xfrm>
            <a:off x="457200" y="274320"/>
            <a:ext cx="5486400" cy="256032"/>
          </a:xfrm>
          <a:prstGeom prst="rect">
            <a:avLst/>
          </a:prstGeom>
          <a:noFill/>
          <a:ln/>
        </p:spPr>
        <p:txBody>
          <a:bodyPr wrap="square" rtlCol="0" anchor="ctr"/>
          <a:lstStyle/>
          <a:p>
            <a:pPr marL="0" indent="0">
              <a:buNone/>
            </a:pPr>
            <a:r>
              <a:rPr lang="en-US" sz="1000" b="1" kern="0" spc="500" dirty="0">
                <a:solidFill>
                  <a:srgbClr val="7A9A20"/>
                </a:solidFill>
                <a:latin typeface="Trebuchet MS" pitchFamily="34" charset="0"/>
                <a:ea typeface="Trebuchet MS" pitchFamily="34" charset="-122"/>
                <a:cs typeface="Trebuchet MS" pitchFamily="34" charset="-120"/>
              </a:rPr>
              <a:t>SESSION  05</a:t>
            </a:r>
            <a:endParaRPr lang="en-US" sz="1000" dirty="0"/>
          </a:p>
        </p:txBody>
      </p:sp>
      <p:sp>
        <p:nvSpPr>
          <p:cNvPr id="4" name="Text 2"/>
          <p:cNvSpPr/>
          <p:nvPr/>
        </p:nvSpPr>
        <p:spPr>
          <a:xfrm>
            <a:off x="457200" y="566928"/>
            <a:ext cx="6583680" cy="822960"/>
          </a:xfrm>
          <a:prstGeom prst="rect">
            <a:avLst/>
          </a:prstGeom>
          <a:noFill/>
          <a:ln/>
        </p:spPr>
        <p:txBody>
          <a:bodyPr wrap="square" rtlCol="0" anchor="ctr"/>
          <a:lstStyle/>
          <a:p>
            <a:pPr marL="0" indent="0">
              <a:buNone/>
            </a:pPr>
            <a:r>
              <a:rPr lang="en-US" sz="3000" b="1" dirty="0">
                <a:solidFill>
                  <a:srgbClr val="0C0C14"/>
                </a:solidFill>
                <a:latin typeface="Trebuchet MS" pitchFamily="34" charset="0"/>
                <a:ea typeface="Trebuchet MS" pitchFamily="34" charset="-122"/>
                <a:cs typeface="Trebuchet MS" pitchFamily="34" charset="-120"/>
              </a:rPr>
              <a:t>Readiness assessment</a:t>
            </a:r>
            <a:endParaRPr lang="en-US" sz="3000" dirty="0"/>
          </a:p>
        </p:txBody>
      </p:sp>
      <p:sp>
        <p:nvSpPr>
          <p:cNvPr id="5" name="Text 3"/>
          <p:cNvSpPr/>
          <p:nvPr/>
        </p:nvSpPr>
        <p:spPr>
          <a:xfrm>
            <a:off x="457200" y="1389888"/>
            <a:ext cx="8229600" cy="256032"/>
          </a:xfrm>
          <a:prstGeom prst="rect">
            <a:avLst/>
          </a:prstGeom>
          <a:noFill/>
          <a:ln/>
        </p:spPr>
        <p:txBody>
          <a:bodyPr wrap="square" rtlCol="0" anchor="ctr"/>
          <a:lstStyle/>
          <a:p>
            <a:pPr marL="0" indent="0">
              <a:buNone/>
            </a:pPr>
            <a:r>
              <a:rPr lang="en-US" sz="900" b="1" kern="0" spc="400" dirty="0">
                <a:solidFill>
                  <a:srgbClr val="6B6B82"/>
                </a:solidFill>
                <a:latin typeface="Trebuchet MS" pitchFamily="34" charset="0"/>
                <a:ea typeface="Trebuchet MS" pitchFamily="34" charset="-122"/>
                <a:cs typeface="Trebuchet MS" pitchFamily="34" charset="-120"/>
              </a:rPr>
              <a:t>5 DIMENSIONS  ·  10 QUESTIONS  ·  0-100 SCORE</a:t>
            </a:r>
            <a:endParaRPr lang="en-US" sz="900" dirty="0"/>
          </a:p>
        </p:txBody>
      </p:sp>
      <p:sp>
        <p:nvSpPr>
          <p:cNvPr id="6" name="Shape 4"/>
          <p:cNvSpPr/>
          <p:nvPr/>
        </p:nvSpPr>
        <p:spPr>
          <a:xfrm>
            <a:off x="457200" y="1719072"/>
            <a:ext cx="1572768" cy="658368"/>
          </a:xfrm>
          <a:prstGeom prst="rect">
            <a:avLst/>
          </a:prstGeom>
          <a:solidFill>
            <a:srgbClr val="F6FFE0"/>
          </a:solidFill>
          <a:ln w="19050">
            <a:solidFill>
              <a:srgbClr val="C8F064"/>
            </a:solidFill>
            <a:prstDash val="solid"/>
          </a:ln>
        </p:spPr>
        <p:txBody>
          <a:bodyPr/>
          <a:p/>
        </p:txBody>
      </p:sp>
      <p:sp>
        <p:nvSpPr>
          <p:cNvPr id="7" name="Shape 5"/>
          <p:cNvSpPr/>
          <p:nvPr/>
        </p:nvSpPr>
        <p:spPr>
          <a:xfrm>
            <a:off x="457200" y="1719072"/>
            <a:ext cx="1572768" cy="91440"/>
          </a:xfrm>
          <a:prstGeom prst="rect">
            <a:avLst/>
          </a:prstGeom>
          <a:solidFill>
            <a:srgbClr val="C8F064"/>
          </a:solidFill>
          <a:ln w="12700">
            <a:solidFill>
              <a:srgbClr val="C8F064"/>
            </a:solidFill>
            <a:prstDash val="solid"/>
          </a:ln>
        </p:spPr>
        <p:txBody>
          <a:bodyPr/>
          <a:p/>
        </p:txBody>
      </p:sp>
      <p:sp>
        <p:nvSpPr>
          <p:cNvPr id="8" name="Text 6"/>
          <p:cNvSpPr/>
          <p:nvPr/>
        </p:nvSpPr>
        <p:spPr>
          <a:xfrm>
            <a:off x="457200" y="1810512"/>
            <a:ext cx="1572768" cy="566928"/>
          </a:xfrm>
          <a:prstGeom prst="rect">
            <a:avLst/>
          </a:prstGeom>
          <a:noFill/>
          <a:ln/>
        </p:spPr>
        <p:txBody>
          <a:bodyPr wrap="square" rtlCol="0" anchor="ctr"/>
          <a:lstStyle/>
          <a:p>
            <a:pPr marL="0" indent="0" algn="ctr">
              <a:buNone/>
            </a:pPr>
            <a:r>
              <a:rPr lang="en-US" sz="1200" b="1" dirty="0">
                <a:solidFill>
                  <a:srgbClr val="456010"/>
                </a:solidFill>
                <a:latin typeface="Trebuchet MS" pitchFamily="34" charset="0"/>
                <a:ea typeface="Trebuchet MS" pitchFamily="34" charset="-122"/>
                <a:cs typeface="Trebuchet MS" pitchFamily="34" charset="-120"/>
              </a:rPr>
              <a:t>Skills</a:t>
            </a:r>
            <a:endParaRPr lang="en-US" sz="1200" dirty="0"/>
          </a:p>
        </p:txBody>
      </p:sp>
      <p:sp>
        <p:nvSpPr>
          <p:cNvPr id="9" name="Shape 7"/>
          <p:cNvSpPr/>
          <p:nvPr/>
        </p:nvSpPr>
        <p:spPr>
          <a:xfrm>
            <a:off x="2194560" y="1719072"/>
            <a:ext cx="1572768" cy="658368"/>
          </a:xfrm>
          <a:prstGeom prst="rect">
            <a:avLst/>
          </a:prstGeom>
          <a:solidFill>
            <a:srgbClr val="E6F8FF"/>
          </a:solidFill>
          <a:ln w="19050">
            <a:solidFill>
              <a:srgbClr val="60C8F0"/>
            </a:solidFill>
            <a:prstDash val="solid"/>
          </a:ln>
        </p:spPr>
        <p:txBody>
          <a:bodyPr/>
          <a:p/>
        </p:txBody>
      </p:sp>
      <p:sp>
        <p:nvSpPr>
          <p:cNvPr id="10" name="Shape 8"/>
          <p:cNvSpPr/>
          <p:nvPr/>
        </p:nvSpPr>
        <p:spPr>
          <a:xfrm>
            <a:off x="2194560" y="1719072"/>
            <a:ext cx="1572768" cy="91440"/>
          </a:xfrm>
          <a:prstGeom prst="rect">
            <a:avLst/>
          </a:prstGeom>
          <a:solidFill>
            <a:srgbClr val="60C8F0"/>
          </a:solidFill>
          <a:ln w="12700">
            <a:solidFill>
              <a:srgbClr val="60C8F0"/>
            </a:solidFill>
            <a:prstDash val="solid"/>
          </a:ln>
        </p:spPr>
        <p:txBody>
          <a:bodyPr/>
          <a:p/>
        </p:txBody>
      </p:sp>
      <p:sp>
        <p:nvSpPr>
          <p:cNvPr id="11" name="Text 9"/>
          <p:cNvSpPr/>
          <p:nvPr/>
        </p:nvSpPr>
        <p:spPr>
          <a:xfrm>
            <a:off x="2194560" y="1810512"/>
            <a:ext cx="1572768" cy="566928"/>
          </a:xfrm>
          <a:prstGeom prst="rect">
            <a:avLst/>
          </a:prstGeom>
          <a:noFill/>
          <a:ln/>
        </p:spPr>
        <p:txBody>
          <a:bodyPr wrap="square" rtlCol="0" anchor="ctr"/>
          <a:lstStyle/>
          <a:p>
            <a:pPr marL="0" indent="0" algn="ctr">
              <a:buNone/>
            </a:pPr>
            <a:r>
              <a:rPr lang="en-US" sz="1200" b="1" dirty="0">
                <a:solidFill>
                  <a:srgbClr val="0C5878"/>
                </a:solidFill>
                <a:latin typeface="Trebuchet MS" pitchFamily="34" charset="0"/>
                <a:ea typeface="Trebuchet MS" pitchFamily="34" charset="-122"/>
                <a:cs typeface="Trebuchet MS" pitchFamily="34" charset="-120"/>
              </a:rPr>
              <a:t>Time</a:t>
            </a:r>
            <a:endParaRPr lang="en-US" sz="1200" dirty="0"/>
          </a:p>
        </p:txBody>
      </p:sp>
      <p:sp>
        <p:nvSpPr>
          <p:cNvPr id="12" name="Shape 10"/>
          <p:cNvSpPr/>
          <p:nvPr/>
        </p:nvSpPr>
        <p:spPr>
          <a:xfrm>
            <a:off x="3931920" y="1719072"/>
            <a:ext cx="1572768" cy="658368"/>
          </a:xfrm>
          <a:prstGeom prst="rect">
            <a:avLst/>
          </a:prstGeom>
          <a:solidFill>
            <a:srgbClr val="FFF4E0"/>
          </a:solidFill>
          <a:ln w="19050">
            <a:solidFill>
              <a:srgbClr val="F5A623"/>
            </a:solidFill>
            <a:prstDash val="solid"/>
          </a:ln>
        </p:spPr>
        <p:txBody>
          <a:bodyPr/>
          <a:p/>
        </p:txBody>
      </p:sp>
      <p:sp>
        <p:nvSpPr>
          <p:cNvPr id="13" name="Shape 11"/>
          <p:cNvSpPr/>
          <p:nvPr/>
        </p:nvSpPr>
        <p:spPr>
          <a:xfrm>
            <a:off x="3931920" y="1719072"/>
            <a:ext cx="1572768" cy="91440"/>
          </a:xfrm>
          <a:prstGeom prst="rect">
            <a:avLst/>
          </a:prstGeom>
          <a:solidFill>
            <a:srgbClr val="F5A623"/>
          </a:solidFill>
          <a:ln w="12700">
            <a:solidFill>
              <a:srgbClr val="F5A623"/>
            </a:solidFill>
            <a:prstDash val="solid"/>
          </a:ln>
        </p:spPr>
        <p:txBody>
          <a:bodyPr/>
          <a:p/>
        </p:txBody>
      </p:sp>
      <p:sp>
        <p:nvSpPr>
          <p:cNvPr id="14" name="Text 12"/>
          <p:cNvSpPr/>
          <p:nvPr/>
        </p:nvSpPr>
        <p:spPr>
          <a:xfrm>
            <a:off x="3931920" y="1810512"/>
            <a:ext cx="1572768" cy="566928"/>
          </a:xfrm>
          <a:prstGeom prst="rect">
            <a:avLst/>
          </a:prstGeom>
          <a:noFill/>
          <a:ln/>
        </p:spPr>
        <p:txBody>
          <a:bodyPr wrap="square" rtlCol="0" anchor="ctr"/>
          <a:lstStyle/>
          <a:p>
            <a:pPr marL="0" indent="0" algn="ctr">
              <a:buNone/>
            </a:pPr>
            <a:r>
              <a:rPr lang="en-US" sz="1200" b="1" dirty="0">
                <a:solidFill>
                  <a:srgbClr val="7A4A08"/>
                </a:solidFill>
                <a:latin typeface="Trebuchet MS" pitchFamily="34" charset="0"/>
                <a:ea typeface="Trebuchet MS" pitchFamily="34" charset="-122"/>
                <a:cs typeface="Trebuchet MS" pitchFamily="34" charset="-120"/>
              </a:rPr>
              <a:t>Setup</a:t>
            </a:r>
            <a:endParaRPr lang="en-US" sz="1200" dirty="0"/>
          </a:p>
        </p:txBody>
      </p:sp>
      <p:sp>
        <p:nvSpPr>
          <p:cNvPr id="15" name="Shape 13"/>
          <p:cNvSpPr/>
          <p:nvPr/>
        </p:nvSpPr>
        <p:spPr>
          <a:xfrm>
            <a:off x="5669280" y="1719072"/>
            <a:ext cx="1572768" cy="658368"/>
          </a:xfrm>
          <a:prstGeom prst="rect">
            <a:avLst/>
          </a:prstGeom>
          <a:solidFill>
            <a:srgbClr val="F8EEFF"/>
          </a:solidFill>
          <a:ln w="19050">
            <a:solidFill>
              <a:srgbClr val="C87DF0"/>
            </a:solidFill>
            <a:prstDash val="solid"/>
          </a:ln>
        </p:spPr>
        <p:txBody>
          <a:bodyPr/>
          <a:p/>
        </p:txBody>
      </p:sp>
      <p:sp>
        <p:nvSpPr>
          <p:cNvPr id="16" name="Shape 14"/>
          <p:cNvSpPr/>
          <p:nvPr/>
        </p:nvSpPr>
        <p:spPr>
          <a:xfrm>
            <a:off x="5669280" y="1719072"/>
            <a:ext cx="1572768" cy="91440"/>
          </a:xfrm>
          <a:prstGeom prst="rect">
            <a:avLst/>
          </a:prstGeom>
          <a:solidFill>
            <a:srgbClr val="C87DF0"/>
          </a:solidFill>
          <a:ln w="12700">
            <a:solidFill>
              <a:srgbClr val="C87DF0"/>
            </a:solidFill>
            <a:prstDash val="solid"/>
          </a:ln>
        </p:spPr>
        <p:txBody>
          <a:bodyPr/>
          <a:p/>
        </p:txBody>
      </p:sp>
      <p:sp>
        <p:nvSpPr>
          <p:cNvPr id="17" name="Text 15"/>
          <p:cNvSpPr/>
          <p:nvPr/>
        </p:nvSpPr>
        <p:spPr>
          <a:xfrm>
            <a:off x="5669280" y="1810512"/>
            <a:ext cx="1572768" cy="566928"/>
          </a:xfrm>
          <a:prstGeom prst="rect">
            <a:avLst/>
          </a:prstGeom>
          <a:noFill/>
          <a:ln/>
        </p:spPr>
        <p:txBody>
          <a:bodyPr wrap="square" rtlCol="0" anchor="ctr"/>
          <a:lstStyle/>
          <a:p>
            <a:pPr marL="0" indent="0" algn="ctr">
              <a:buNone/>
            </a:pPr>
            <a:r>
              <a:rPr lang="en-US" sz="1200" b="1" dirty="0">
                <a:solidFill>
                  <a:srgbClr val="5E1888"/>
                </a:solidFill>
                <a:latin typeface="Trebuchet MS" pitchFamily="34" charset="0"/>
                <a:ea typeface="Trebuchet MS" pitchFamily="34" charset="-122"/>
                <a:cs typeface="Trebuchet MS" pitchFamily="34" charset="-120"/>
              </a:rPr>
              <a:t>Mindset</a:t>
            </a:r>
            <a:endParaRPr lang="en-US" sz="1200" dirty="0"/>
          </a:p>
        </p:txBody>
      </p:sp>
      <p:sp>
        <p:nvSpPr>
          <p:cNvPr id="18" name="Shape 16"/>
          <p:cNvSpPr/>
          <p:nvPr/>
        </p:nvSpPr>
        <p:spPr>
          <a:xfrm>
            <a:off x="7406640" y="1719072"/>
            <a:ext cx="1572768" cy="658368"/>
          </a:xfrm>
          <a:prstGeom prst="rect">
            <a:avLst/>
          </a:prstGeom>
          <a:solidFill>
            <a:srgbClr val="FFF0F4"/>
          </a:solidFill>
          <a:ln w="19050">
            <a:solidFill>
              <a:srgbClr val="F06488"/>
            </a:solidFill>
            <a:prstDash val="solid"/>
          </a:ln>
        </p:spPr>
        <p:txBody>
          <a:bodyPr/>
          <a:p/>
        </p:txBody>
      </p:sp>
      <p:sp>
        <p:nvSpPr>
          <p:cNvPr id="19" name="Shape 17"/>
          <p:cNvSpPr/>
          <p:nvPr/>
        </p:nvSpPr>
        <p:spPr>
          <a:xfrm>
            <a:off x="7406640" y="1719072"/>
            <a:ext cx="1572768" cy="91440"/>
          </a:xfrm>
          <a:prstGeom prst="rect">
            <a:avLst/>
          </a:prstGeom>
          <a:solidFill>
            <a:srgbClr val="F06488"/>
          </a:solidFill>
          <a:ln w="12700">
            <a:solidFill>
              <a:srgbClr val="F06488"/>
            </a:solidFill>
            <a:prstDash val="solid"/>
          </a:ln>
        </p:spPr>
        <p:txBody>
          <a:bodyPr/>
          <a:p/>
        </p:txBody>
      </p:sp>
      <p:sp>
        <p:nvSpPr>
          <p:cNvPr id="20" name="Text 18"/>
          <p:cNvSpPr/>
          <p:nvPr/>
        </p:nvSpPr>
        <p:spPr>
          <a:xfrm>
            <a:off x="7406640" y="1810512"/>
            <a:ext cx="1572768" cy="566928"/>
          </a:xfrm>
          <a:prstGeom prst="rect">
            <a:avLst/>
          </a:prstGeom>
          <a:noFill/>
          <a:ln/>
        </p:spPr>
        <p:txBody>
          <a:bodyPr wrap="square" rtlCol="0" anchor="ctr"/>
          <a:lstStyle/>
          <a:p>
            <a:pPr marL="0" indent="0" algn="ctr">
              <a:buNone/>
            </a:pPr>
            <a:r>
              <a:rPr lang="en-US" sz="1200" b="1" dirty="0">
                <a:solidFill>
                  <a:srgbClr val="901838"/>
                </a:solidFill>
                <a:latin typeface="Trebuchet MS" pitchFamily="34" charset="0"/>
                <a:ea typeface="Trebuchet MS" pitchFamily="34" charset="-122"/>
                <a:cs typeface="Trebuchet MS" pitchFamily="34" charset="-120"/>
              </a:rPr>
              <a:t>Market</a:t>
            </a:r>
            <a:endParaRPr lang="en-US" sz="1200" dirty="0"/>
          </a:p>
        </p:txBody>
      </p:sp>
      <p:sp>
        <p:nvSpPr>
          <p:cNvPr id="21" name="Text 19"/>
          <p:cNvSpPr/>
          <p:nvPr/>
        </p:nvSpPr>
        <p:spPr>
          <a:xfrm>
            <a:off x="457200" y="2560320"/>
            <a:ext cx="8229600" cy="256032"/>
          </a:xfrm>
          <a:prstGeom prst="rect">
            <a:avLst/>
          </a:prstGeom>
          <a:noFill/>
          <a:ln/>
        </p:spPr>
        <p:txBody>
          <a:bodyPr wrap="square" rtlCol="0" anchor="ctr"/>
          <a:lstStyle/>
          <a:p>
            <a:pPr marL="0" indent="0">
              <a:buNone/>
            </a:pPr>
            <a:r>
              <a:rPr lang="en-US" sz="900" b="1" kern="0" spc="400" dirty="0">
                <a:solidFill>
                  <a:srgbClr val="6B6B82"/>
                </a:solidFill>
                <a:latin typeface="Trebuchet MS" pitchFamily="34" charset="0"/>
                <a:ea typeface="Trebuchet MS" pitchFamily="34" charset="-122"/>
                <a:cs typeface="Trebuchet MS" pitchFamily="34" charset="-120"/>
              </a:rPr>
              <a:t>3 OUTCOME BUCKETS</a:t>
            </a:r>
            <a:endParaRPr lang="en-US" sz="900" dirty="0"/>
          </a:p>
        </p:txBody>
      </p:sp>
      <p:sp>
        <p:nvSpPr>
          <p:cNvPr id="22" name="Shape 20"/>
          <p:cNvSpPr/>
          <p:nvPr/>
        </p:nvSpPr>
        <p:spPr>
          <a:xfrm>
            <a:off x="411480" y="2907792"/>
            <a:ext cx="2788920" cy="1920240"/>
          </a:xfrm>
          <a:prstGeom prst="rect">
            <a:avLst/>
          </a:prstGeom>
          <a:solidFill>
            <a:srgbClr val="E8F5EE"/>
          </a:solidFill>
          <a:ln w="12700">
            <a:solidFill>
              <a:srgbClr val="90D4B0"/>
            </a:solidFill>
            <a:prstDash val="solid"/>
          </a:ln>
        </p:spPr>
        <p:txBody>
          <a:bodyPr/>
          <a:p/>
        </p:txBody>
      </p:sp>
      <p:sp>
        <p:nvSpPr>
          <p:cNvPr id="23" name="Text 21"/>
          <p:cNvSpPr/>
          <p:nvPr/>
        </p:nvSpPr>
        <p:spPr>
          <a:xfrm>
            <a:off x="557784" y="2999232"/>
            <a:ext cx="2487168" cy="256032"/>
          </a:xfrm>
          <a:prstGeom prst="rect">
            <a:avLst/>
          </a:prstGeom>
          <a:noFill/>
          <a:ln/>
        </p:spPr>
        <p:txBody>
          <a:bodyPr wrap="square" rtlCol="0" anchor="ctr"/>
          <a:lstStyle/>
          <a:p>
            <a:pPr marL="0" indent="0">
              <a:buNone/>
            </a:pPr>
            <a:r>
              <a:rPr lang="en-US" sz="1000" b="1" kern="0" spc="200" dirty="0">
                <a:solidFill>
                  <a:srgbClr val="1A6B3A"/>
                </a:solidFill>
                <a:latin typeface="Trebuchet MS" pitchFamily="34" charset="0"/>
                <a:ea typeface="Trebuchet MS" pitchFamily="34" charset="-122"/>
                <a:cs typeface="Trebuchet MS" pitchFamily="34" charset="-120"/>
              </a:rPr>
              <a:t>Score 70-100</a:t>
            </a:r>
            <a:endParaRPr lang="en-US" sz="1000" dirty="0"/>
          </a:p>
        </p:txBody>
      </p:sp>
      <p:sp>
        <p:nvSpPr>
          <p:cNvPr id="24" name="Text 22"/>
          <p:cNvSpPr/>
          <p:nvPr/>
        </p:nvSpPr>
        <p:spPr>
          <a:xfrm>
            <a:off x="557784" y="3273552"/>
            <a:ext cx="2487168" cy="365760"/>
          </a:xfrm>
          <a:prstGeom prst="rect">
            <a:avLst/>
          </a:prstGeom>
          <a:noFill/>
          <a:ln/>
        </p:spPr>
        <p:txBody>
          <a:bodyPr wrap="square" rtlCol="0" anchor="ctr"/>
          <a:lstStyle/>
          <a:p>
            <a:pPr marL="0" indent="0">
              <a:buNone/>
            </a:pPr>
            <a:r>
              <a:rPr lang="en-US" sz="1600" b="1" dirty="0">
                <a:solidFill>
                  <a:srgbClr val="1A6B3A"/>
                </a:solidFill>
                <a:latin typeface="Trebuchet MS" pitchFamily="34" charset="0"/>
                <a:ea typeface="Trebuchet MS" pitchFamily="34" charset="-122"/>
                <a:cs typeface="Trebuchet MS" pitchFamily="34" charset="-120"/>
              </a:rPr>
              <a:t>Ready to start</a:t>
            </a:r>
            <a:endParaRPr lang="en-US" sz="1600" dirty="0"/>
          </a:p>
        </p:txBody>
      </p:sp>
      <p:sp>
        <p:nvSpPr>
          <p:cNvPr id="25" name="Shape 23"/>
          <p:cNvSpPr/>
          <p:nvPr/>
        </p:nvSpPr>
        <p:spPr>
          <a:xfrm>
            <a:off x="557784" y="3675888"/>
            <a:ext cx="2487168" cy="0"/>
          </a:xfrm>
          <a:prstGeom prst="line">
            <a:avLst/>
          </a:prstGeom>
          <a:noFill/>
          <a:ln w="10160">
            <a:solidFill>
              <a:srgbClr val="90D4B0"/>
            </a:solidFill>
            <a:prstDash val="solid"/>
          </a:ln>
        </p:spPr>
        <p:txBody>
          <a:bodyPr/>
          <a:p/>
        </p:txBody>
      </p:sp>
      <p:sp>
        <p:nvSpPr>
          <p:cNvPr id="26" name="Text 24"/>
          <p:cNvSpPr/>
          <p:nvPr/>
        </p:nvSpPr>
        <p:spPr>
          <a:xfrm>
            <a:off x="557784" y="3767328"/>
            <a:ext cx="2487168" cy="960120"/>
          </a:xfrm>
          <a:prstGeom prst="rect">
            <a:avLst/>
          </a:prstGeom>
          <a:noFill/>
          <a:ln/>
        </p:spPr>
        <p:txBody>
          <a:bodyPr wrap="square" rtlCol="0" anchor="ctr"/>
          <a:lstStyle/>
          <a:p>
            <a:pPr marL="0" indent="0">
              <a:buNone/>
            </a:pPr>
            <a:r>
              <a:rPr lang="en-US" sz="1050" dirty="0">
                <a:solidFill>
                  <a:srgbClr val="0C0C14"/>
                </a:solidFill>
                <a:latin typeface="Calibri" pitchFamily="34" charset="0"/>
                <a:ea typeface="Calibri" pitchFamily="34" charset="-122"/>
                <a:cs typeface="Calibri" pitchFamily="34" charset="-120"/>
              </a:rPr>
              <a:t>Enrol in the Accelerator. Pick a niche, build one automation, pitch one client - this week.</a:t>
            </a:r>
            <a:endParaRPr lang="en-US" sz="1050" dirty="0"/>
          </a:p>
        </p:txBody>
      </p:sp>
      <p:sp>
        <p:nvSpPr>
          <p:cNvPr id="27" name="Shape 25"/>
          <p:cNvSpPr/>
          <p:nvPr/>
        </p:nvSpPr>
        <p:spPr>
          <a:xfrm>
            <a:off x="3337560" y="2907792"/>
            <a:ext cx="2788920" cy="1920240"/>
          </a:xfrm>
          <a:prstGeom prst="rect">
            <a:avLst/>
          </a:prstGeom>
          <a:solidFill>
            <a:srgbClr val="FDF3E3"/>
          </a:solidFill>
          <a:ln w="12700">
            <a:solidFill>
              <a:srgbClr val="F0C870"/>
            </a:solidFill>
            <a:prstDash val="solid"/>
          </a:ln>
        </p:spPr>
        <p:txBody>
          <a:bodyPr/>
          <a:p/>
        </p:txBody>
      </p:sp>
      <p:sp>
        <p:nvSpPr>
          <p:cNvPr id="28" name="Text 26"/>
          <p:cNvSpPr/>
          <p:nvPr/>
        </p:nvSpPr>
        <p:spPr>
          <a:xfrm>
            <a:off x="3483864" y="2999232"/>
            <a:ext cx="2487168" cy="256032"/>
          </a:xfrm>
          <a:prstGeom prst="rect">
            <a:avLst/>
          </a:prstGeom>
          <a:noFill/>
          <a:ln/>
        </p:spPr>
        <p:txBody>
          <a:bodyPr wrap="square" rtlCol="0" anchor="ctr"/>
          <a:lstStyle/>
          <a:p>
            <a:pPr marL="0" indent="0">
              <a:buNone/>
            </a:pPr>
            <a:r>
              <a:rPr lang="en-US" sz="1000" b="1" kern="0" spc="200" dirty="0">
                <a:solidFill>
                  <a:srgbClr val="8B5E10"/>
                </a:solidFill>
                <a:latin typeface="Trebuchet MS" pitchFamily="34" charset="0"/>
                <a:ea typeface="Trebuchet MS" pitchFamily="34" charset="-122"/>
                <a:cs typeface="Trebuchet MS" pitchFamily="34" charset="-120"/>
              </a:rPr>
              <a:t>Score 45-69</a:t>
            </a:r>
            <a:endParaRPr lang="en-US" sz="1000" dirty="0"/>
          </a:p>
        </p:txBody>
      </p:sp>
      <p:sp>
        <p:nvSpPr>
          <p:cNvPr id="29" name="Text 27"/>
          <p:cNvSpPr/>
          <p:nvPr/>
        </p:nvSpPr>
        <p:spPr>
          <a:xfrm>
            <a:off x="3483864" y="3273552"/>
            <a:ext cx="2487168" cy="365760"/>
          </a:xfrm>
          <a:prstGeom prst="rect">
            <a:avLst/>
          </a:prstGeom>
          <a:noFill/>
          <a:ln/>
        </p:spPr>
        <p:txBody>
          <a:bodyPr wrap="square" rtlCol="0" anchor="ctr"/>
          <a:lstStyle/>
          <a:p>
            <a:pPr marL="0" indent="0">
              <a:buNone/>
            </a:pPr>
            <a:r>
              <a:rPr lang="en-US" sz="1600" b="1" dirty="0">
                <a:solidFill>
                  <a:srgbClr val="8B5E10"/>
                </a:solidFill>
                <a:latin typeface="Trebuchet MS" pitchFamily="34" charset="0"/>
                <a:ea typeface="Trebuchet MS" pitchFamily="34" charset="-122"/>
                <a:cs typeface="Trebuchet MS" pitchFamily="34" charset="-120"/>
              </a:rPr>
              <a:t>Almost ready</a:t>
            </a:r>
            <a:endParaRPr lang="en-US" sz="1600" dirty="0"/>
          </a:p>
        </p:txBody>
      </p:sp>
      <p:sp>
        <p:nvSpPr>
          <p:cNvPr id="30" name="Shape 28"/>
          <p:cNvSpPr/>
          <p:nvPr/>
        </p:nvSpPr>
        <p:spPr>
          <a:xfrm>
            <a:off x="3483864" y="3675888"/>
            <a:ext cx="2487168" cy="0"/>
          </a:xfrm>
          <a:prstGeom prst="line">
            <a:avLst/>
          </a:prstGeom>
          <a:noFill/>
          <a:ln w="10160">
            <a:solidFill>
              <a:srgbClr val="F0C870"/>
            </a:solidFill>
            <a:prstDash val="solid"/>
          </a:ln>
        </p:spPr>
        <p:txBody>
          <a:bodyPr/>
          <a:p/>
        </p:txBody>
      </p:sp>
      <p:sp>
        <p:nvSpPr>
          <p:cNvPr id="31" name="Text 29"/>
          <p:cNvSpPr/>
          <p:nvPr/>
        </p:nvSpPr>
        <p:spPr>
          <a:xfrm>
            <a:off x="3483864" y="3767328"/>
            <a:ext cx="2487168" cy="960120"/>
          </a:xfrm>
          <a:prstGeom prst="rect">
            <a:avLst/>
          </a:prstGeom>
          <a:noFill/>
          <a:ln/>
        </p:spPr>
        <p:txBody>
          <a:bodyPr wrap="square" rtlCol="0" anchor="ctr"/>
          <a:lstStyle/>
          <a:p>
            <a:pPr marL="0" indent="0">
              <a:buNone/>
            </a:pPr>
            <a:r>
              <a:rPr lang="en-US" sz="1050" dirty="0">
                <a:solidFill>
                  <a:srgbClr val="0C0C14"/>
                </a:solidFill>
                <a:latin typeface="Calibri" pitchFamily="34" charset="0"/>
                <a:ea typeface="Calibri" pitchFamily="34" charset="-122"/>
                <a:cs typeface="Calibri" pitchFamily="34" charset="-120"/>
              </a:rPr>
              <a:t>Your gaps are solvable in 4-8 weeks. Use your scorecard to see exactly what needs work.</a:t>
            </a:r>
            <a:endParaRPr lang="en-US" sz="1050" dirty="0"/>
          </a:p>
        </p:txBody>
      </p:sp>
      <p:sp>
        <p:nvSpPr>
          <p:cNvPr id="32" name="Shape 30"/>
          <p:cNvSpPr/>
          <p:nvPr/>
        </p:nvSpPr>
        <p:spPr>
          <a:xfrm>
            <a:off x="6263640" y="2907792"/>
            <a:ext cx="2788920" cy="1920240"/>
          </a:xfrm>
          <a:prstGeom prst="rect">
            <a:avLst/>
          </a:prstGeom>
          <a:solidFill>
            <a:srgbClr val="FDEAEA"/>
          </a:solidFill>
          <a:ln w="12700">
            <a:solidFill>
              <a:srgbClr val="F0A0A0"/>
            </a:solidFill>
            <a:prstDash val="solid"/>
          </a:ln>
        </p:spPr>
        <p:txBody>
          <a:bodyPr/>
          <a:p/>
        </p:txBody>
      </p:sp>
      <p:sp>
        <p:nvSpPr>
          <p:cNvPr id="33" name="Text 31"/>
          <p:cNvSpPr/>
          <p:nvPr/>
        </p:nvSpPr>
        <p:spPr>
          <a:xfrm>
            <a:off x="6409944" y="2999232"/>
            <a:ext cx="2487168" cy="256032"/>
          </a:xfrm>
          <a:prstGeom prst="rect">
            <a:avLst/>
          </a:prstGeom>
          <a:noFill/>
          <a:ln/>
        </p:spPr>
        <p:txBody>
          <a:bodyPr wrap="square" rtlCol="0" anchor="ctr"/>
          <a:lstStyle/>
          <a:p>
            <a:pPr marL="0" indent="0">
              <a:buNone/>
            </a:pPr>
            <a:r>
              <a:rPr lang="en-US" sz="1000" b="1" kern="0" spc="200" dirty="0">
                <a:solidFill>
                  <a:srgbClr val="8B1A1A"/>
                </a:solidFill>
                <a:latin typeface="Trebuchet MS" pitchFamily="34" charset="0"/>
                <a:ea typeface="Trebuchet MS" pitchFamily="34" charset="-122"/>
                <a:cs typeface="Trebuchet MS" pitchFamily="34" charset="-120"/>
              </a:rPr>
              <a:t>Score 0-44</a:t>
            </a:r>
            <a:endParaRPr lang="en-US" sz="1000" dirty="0"/>
          </a:p>
        </p:txBody>
      </p:sp>
      <p:sp>
        <p:nvSpPr>
          <p:cNvPr id="34" name="Text 32"/>
          <p:cNvSpPr/>
          <p:nvPr/>
        </p:nvSpPr>
        <p:spPr>
          <a:xfrm>
            <a:off x="6409944" y="3273552"/>
            <a:ext cx="2487168" cy="365760"/>
          </a:xfrm>
          <a:prstGeom prst="rect">
            <a:avLst/>
          </a:prstGeom>
          <a:noFill/>
          <a:ln/>
        </p:spPr>
        <p:txBody>
          <a:bodyPr wrap="square" rtlCol="0" anchor="ctr"/>
          <a:lstStyle/>
          <a:p>
            <a:pPr marL="0" indent="0">
              <a:buNone/>
            </a:pPr>
            <a:r>
              <a:rPr lang="en-US" sz="1600" b="1" dirty="0">
                <a:solidFill>
                  <a:srgbClr val="8B1A1A"/>
                </a:solidFill>
                <a:latin typeface="Trebuchet MS" pitchFamily="34" charset="0"/>
                <a:ea typeface="Trebuchet MS" pitchFamily="34" charset="-122"/>
                <a:cs typeface="Trebuchet MS" pitchFamily="34" charset="-120"/>
              </a:rPr>
              <a:t>Not yet</a:t>
            </a:r>
            <a:endParaRPr lang="en-US" sz="1600" dirty="0"/>
          </a:p>
        </p:txBody>
      </p:sp>
      <p:sp>
        <p:nvSpPr>
          <p:cNvPr id="35" name="Shape 33"/>
          <p:cNvSpPr/>
          <p:nvPr/>
        </p:nvSpPr>
        <p:spPr>
          <a:xfrm>
            <a:off x="6409944" y="3675888"/>
            <a:ext cx="2487168" cy="0"/>
          </a:xfrm>
          <a:prstGeom prst="line">
            <a:avLst/>
          </a:prstGeom>
          <a:noFill/>
          <a:ln w="10160">
            <a:solidFill>
              <a:srgbClr val="F0A0A0"/>
            </a:solidFill>
            <a:prstDash val="solid"/>
          </a:ln>
        </p:spPr>
        <p:txBody>
          <a:bodyPr/>
          <a:p/>
        </p:txBody>
      </p:sp>
      <p:sp>
        <p:nvSpPr>
          <p:cNvPr id="36" name="Text 34"/>
          <p:cNvSpPr/>
          <p:nvPr/>
        </p:nvSpPr>
        <p:spPr>
          <a:xfrm>
            <a:off x="6409944" y="3767328"/>
            <a:ext cx="2487168" cy="960120"/>
          </a:xfrm>
          <a:prstGeom prst="rect">
            <a:avLst/>
          </a:prstGeom>
          <a:noFill/>
          <a:ln/>
        </p:spPr>
        <p:txBody>
          <a:bodyPr wrap="square" rtlCol="0" anchor="ctr"/>
          <a:lstStyle/>
          <a:p>
            <a:pPr marL="0" indent="0">
              <a:buNone/>
            </a:pPr>
            <a:r>
              <a:rPr lang="en-US" sz="1050" dirty="0">
                <a:solidFill>
                  <a:srgbClr val="0C0C14"/>
                </a:solidFill>
                <a:latin typeface="Calibri" pitchFamily="34" charset="0"/>
                <a:ea typeface="Calibri" pitchFamily="34" charset="-122"/>
                <a:cs typeface="Calibri" pitchFamily="34" charset="-120"/>
              </a:rPr>
              <a:t>Build the financial and skill foundation first. Come back in 3 months - your score will be very different.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C14"/>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256032"/>
          </a:xfrm>
          <a:prstGeom prst="rect">
            <a:avLst/>
          </a:prstGeom>
          <a:noFill/>
          <a:ln/>
        </p:spPr>
        <p:txBody>
          <a:bodyPr wrap="square" rtlCol="0" anchor="ctr"/>
          <a:lstStyle/>
          <a:p>
            <a:pPr marL="0" indent="0">
              <a:buNone/>
            </a:pPr>
            <a:r>
              <a:rPr lang="en-US" sz="1000" b="1" kern="0" spc="500" dirty="0">
                <a:solidFill>
                  <a:srgbClr val="C8F064"/>
                </a:solidFill>
                <a:latin typeface="Trebuchet MS" pitchFamily="34" charset="0"/>
                <a:ea typeface="Trebuchet MS" pitchFamily="34" charset="-122"/>
                <a:cs typeface="Trebuchet MS" pitchFamily="34" charset="-120"/>
              </a:rPr>
              <a:t>HOW TO READ YOUR SCORE</a:t>
            </a:r>
            <a:endParaRPr lang="en-US" sz="1000" dirty="0"/>
          </a:p>
        </p:txBody>
      </p:sp>
      <p:sp>
        <p:nvSpPr>
          <p:cNvPr id="3" name="Text 1"/>
          <p:cNvSpPr/>
          <p:nvPr/>
        </p:nvSpPr>
        <p:spPr>
          <a:xfrm>
            <a:off x="457200" y="566928"/>
            <a:ext cx="8229600" cy="68580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Your number isn't the whole story.</a:t>
            </a:r>
            <a:endParaRPr lang="en-US" sz="2800" dirty="0"/>
          </a:p>
        </p:txBody>
      </p:sp>
      <p:sp>
        <p:nvSpPr>
          <p:cNvPr id="4" name="Text 2"/>
          <p:cNvSpPr/>
          <p:nvPr/>
        </p:nvSpPr>
        <p:spPr>
          <a:xfrm>
            <a:off x="457200" y="1261872"/>
            <a:ext cx="8229600" cy="329184"/>
          </a:xfrm>
          <a:prstGeom prst="rect">
            <a:avLst/>
          </a:prstGeom>
          <a:noFill/>
          <a:ln/>
        </p:spPr>
        <p:txBody>
          <a:bodyPr wrap="square" rtlCol="0" anchor="ctr"/>
          <a:lstStyle/>
          <a:p>
            <a:pPr marL="0" indent="0">
              <a:buNone/>
            </a:pPr>
            <a:r>
              <a:rPr lang="en-US" sz="1400" i="1" dirty="0">
                <a:solidFill>
                  <a:srgbClr val="8A8AA8"/>
                </a:solidFill>
                <a:latin typeface="Calibri" pitchFamily="34" charset="0"/>
                <a:ea typeface="Calibri" pitchFamily="34" charset="-122"/>
                <a:cs typeface="Calibri" pitchFamily="34" charset="-120"/>
              </a:rPr>
              <a:t>Four things the score won't tell you.</a:t>
            </a:r>
            <a:endParaRPr lang="en-US" sz="1400" dirty="0"/>
          </a:p>
        </p:txBody>
      </p:sp>
      <p:sp>
        <p:nvSpPr>
          <p:cNvPr id="5" name="Shape 3"/>
          <p:cNvSpPr/>
          <p:nvPr/>
        </p:nvSpPr>
        <p:spPr>
          <a:xfrm>
            <a:off x="384048" y="1783080"/>
            <a:ext cx="4114800" cy="1371600"/>
          </a:xfrm>
          <a:prstGeom prst="rect">
            <a:avLst/>
          </a:prstGeom>
          <a:solidFill>
            <a:srgbClr val="1E1E32"/>
          </a:solidFill>
          <a:ln w="10160">
            <a:solidFill>
              <a:srgbClr val="282848"/>
            </a:solidFill>
            <a:prstDash val="solid"/>
          </a:ln>
        </p:spPr>
        <p:txBody>
          <a:bodyPr/>
          <a:p/>
        </p:txBody>
      </p:sp>
      <p:sp>
        <p:nvSpPr>
          <p:cNvPr id="6" name="Shape 4"/>
          <p:cNvSpPr/>
          <p:nvPr/>
        </p:nvSpPr>
        <p:spPr>
          <a:xfrm>
            <a:off x="530352" y="1929384"/>
            <a:ext cx="310896" cy="310896"/>
          </a:xfrm>
          <a:prstGeom prst="ellipse">
            <a:avLst/>
          </a:prstGeom>
          <a:solidFill>
            <a:srgbClr val="C8F064"/>
          </a:solidFill>
          <a:ln w="12700">
            <a:solidFill>
              <a:srgbClr val="C8F064"/>
            </a:solidFill>
            <a:prstDash val="solid"/>
          </a:ln>
        </p:spPr>
        <p:txBody>
          <a:bodyPr/>
          <a:p/>
        </p:txBody>
      </p:sp>
      <p:sp>
        <p:nvSpPr>
          <p:cNvPr id="7" name="Text 5"/>
          <p:cNvSpPr/>
          <p:nvPr/>
        </p:nvSpPr>
        <p:spPr>
          <a:xfrm>
            <a:off x="530352" y="1929384"/>
            <a:ext cx="310896" cy="310896"/>
          </a:xfrm>
          <a:prstGeom prst="rect">
            <a:avLst/>
          </a:prstGeom>
          <a:noFill/>
          <a:ln/>
        </p:spPr>
        <p:txBody>
          <a:bodyPr wrap="square" lIns="0" tIns="0" rIns="0" bIns="0" rtlCol="0" anchor="ctr"/>
          <a:lstStyle/>
          <a:p>
            <a:pPr marL="0" indent="0" algn="ctr">
              <a:buNone/>
            </a:pPr>
            <a:r>
              <a:rPr lang="en-US" sz="1200" b="1" dirty="0">
                <a:solidFill>
                  <a:srgbClr val="0C0C14"/>
                </a:solidFill>
                <a:latin typeface="Trebuchet MS" pitchFamily="34" charset="0"/>
                <a:ea typeface="Trebuchet MS" pitchFamily="34" charset="-122"/>
                <a:cs typeface="Trebuchet MS" pitchFamily="34" charset="-120"/>
              </a:rPr>
              <a:t>1</a:t>
            </a:r>
            <a:endParaRPr lang="en-US" sz="1200" dirty="0"/>
          </a:p>
        </p:txBody>
      </p:sp>
      <p:sp>
        <p:nvSpPr>
          <p:cNvPr id="8" name="Text 6"/>
          <p:cNvSpPr/>
          <p:nvPr/>
        </p:nvSpPr>
        <p:spPr>
          <a:xfrm>
            <a:off x="950976" y="1929384"/>
            <a:ext cx="3383280" cy="329184"/>
          </a:xfrm>
          <a:prstGeom prst="rect">
            <a:avLst/>
          </a:prstGeom>
          <a:noFill/>
          <a:ln/>
        </p:spPr>
        <p:txBody>
          <a:bodyPr wrap="square"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Your lowest bar wins</a:t>
            </a:r>
            <a:endParaRPr lang="en-US" sz="1400" dirty="0"/>
          </a:p>
        </p:txBody>
      </p:sp>
      <p:sp>
        <p:nvSpPr>
          <p:cNvPr id="9" name="Text 7"/>
          <p:cNvSpPr/>
          <p:nvPr/>
        </p:nvSpPr>
        <p:spPr>
          <a:xfrm>
            <a:off x="530352" y="2350008"/>
            <a:ext cx="3840480" cy="713232"/>
          </a:xfrm>
          <a:prstGeom prst="rect">
            <a:avLst/>
          </a:prstGeom>
          <a:noFill/>
          <a:ln/>
        </p:spPr>
        <p:txBody>
          <a:bodyPr wrap="square" rtlCol="0" anchor="ctr"/>
          <a:lstStyle/>
          <a:p>
            <a:pPr marL="0" indent="0">
              <a:buNone/>
            </a:pPr>
            <a:r>
              <a:rPr lang="en-US" sz="1100" dirty="0">
                <a:solidFill>
                  <a:srgbClr val="8A8AA8"/>
                </a:solidFill>
                <a:latin typeface="Calibri" pitchFamily="34" charset="0"/>
                <a:ea typeface="Calibri" pitchFamily="34" charset="-122"/>
                <a:cs typeface="Calibri" pitchFamily="34" charset="-120"/>
              </a:rPr>
              <a:t>Your bottleneck is your weakest dimension, not your average. A 70 with one broken dimension isn’t really a 70 - go fix that one first.</a:t>
            </a:r>
            <a:endParaRPr lang="en-US" sz="1100" dirty="0"/>
          </a:p>
        </p:txBody>
      </p:sp>
      <p:sp>
        <p:nvSpPr>
          <p:cNvPr id="10" name="Shape 8"/>
          <p:cNvSpPr/>
          <p:nvPr/>
        </p:nvSpPr>
        <p:spPr>
          <a:xfrm>
            <a:off x="4681728" y="1783080"/>
            <a:ext cx="4114800" cy="1371600"/>
          </a:xfrm>
          <a:prstGeom prst="rect">
            <a:avLst/>
          </a:prstGeom>
          <a:solidFill>
            <a:srgbClr val="1E1E32"/>
          </a:solidFill>
          <a:ln w="10160">
            <a:solidFill>
              <a:srgbClr val="282848"/>
            </a:solidFill>
            <a:prstDash val="solid"/>
          </a:ln>
        </p:spPr>
        <p:txBody>
          <a:bodyPr/>
          <a:p/>
        </p:txBody>
      </p:sp>
      <p:sp>
        <p:nvSpPr>
          <p:cNvPr id="11" name="Shape 9"/>
          <p:cNvSpPr/>
          <p:nvPr/>
        </p:nvSpPr>
        <p:spPr>
          <a:xfrm>
            <a:off x="4828032" y="1929384"/>
            <a:ext cx="310896" cy="310896"/>
          </a:xfrm>
          <a:prstGeom prst="ellipse">
            <a:avLst/>
          </a:prstGeom>
          <a:solidFill>
            <a:srgbClr val="C8F064"/>
          </a:solidFill>
          <a:ln w="12700">
            <a:solidFill>
              <a:srgbClr val="C8F064"/>
            </a:solidFill>
            <a:prstDash val="solid"/>
          </a:ln>
        </p:spPr>
        <p:txBody>
          <a:bodyPr/>
          <a:p/>
        </p:txBody>
      </p:sp>
      <p:sp>
        <p:nvSpPr>
          <p:cNvPr id="12" name="Text 10"/>
          <p:cNvSpPr/>
          <p:nvPr/>
        </p:nvSpPr>
        <p:spPr>
          <a:xfrm>
            <a:off x="4828032" y="1929384"/>
            <a:ext cx="310896" cy="310896"/>
          </a:xfrm>
          <a:prstGeom prst="rect">
            <a:avLst/>
          </a:prstGeom>
          <a:noFill/>
          <a:ln/>
        </p:spPr>
        <p:txBody>
          <a:bodyPr wrap="square" lIns="0" tIns="0" rIns="0" bIns="0" rtlCol="0" anchor="ctr"/>
          <a:lstStyle/>
          <a:p>
            <a:pPr marL="0" indent="0" algn="ctr">
              <a:buNone/>
            </a:pPr>
            <a:r>
              <a:rPr lang="en-US" sz="1200" b="1" dirty="0">
                <a:solidFill>
                  <a:srgbClr val="0C0C14"/>
                </a:solidFill>
                <a:latin typeface="Trebuchet MS" pitchFamily="34" charset="0"/>
                <a:ea typeface="Trebuchet MS" pitchFamily="34" charset="-122"/>
                <a:cs typeface="Trebuchet MS" pitchFamily="34" charset="-120"/>
              </a:rPr>
              <a:t>2</a:t>
            </a:r>
            <a:endParaRPr lang="en-US" sz="1200" dirty="0"/>
          </a:p>
        </p:txBody>
      </p:sp>
      <p:sp>
        <p:nvSpPr>
          <p:cNvPr id="13" name="Text 11"/>
          <p:cNvSpPr/>
          <p:nvPr/>
        </p:nvSpPr>
        <p:spPr>
          <a:xfrm>
            <a:off x="5248656" y="1929384"/>
            <a:ext cx="3383280" cy="329184"/>
          </a:xfrm>
          <a:prstGeom prst="rect">
            <a:avLst/>
          </a:prstGeom>
          <a:noFill/>
          <a:ln/>
        </p:spPr>
        <p:txBody>
          <a:bodyPr wrap="square"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Setup is the only wall</a:t>
            </a:r>
            <a:endParaRPr lang="en-US" sz="1400" dirty="0"/>
          </a:p>
        </p:txBody>
      </p:sp>
      <p:sp>
        <p:nvSpPr>
          <p:cNvPr id="14" name="Text 12"/>
          <p:cNvSpPr/>
          <p:nvPr/>
        </p:nvSpPr>
        <p:spPr>
          <a:xfrm>
            <a:off x="4828032" y="2350008"/>
            <a:ext cx="3840480" cy="713232"/>
          </a:xfrm>
          <a:prstGeom prst="rect">
            <a:avLst/>
          </a:prstGeom>
          <a:noFill/>
          <a:ln/>
        </p:spPr>
        <p:txBody>
          <a:bodyPr wrap="square" rtlCol="0" anchor="ctr"/>
          <a:lstStyle/>
          <a:p>
            <a:pPr marL="0" indent="0">
              <a:buNone/>
            </a:pPr>
            <a:r>
              <a:rPr lang="en-US" sz="1100" dirty="0">
                <a:solidFill>
                  <a:srgbClr val="8A8AA8"/>
                </a:solidFill>
                <a:latin typeface="Calibri" pitchFamily="34" charset="0"/>
                <a:ea typeface="Calibri" pitchFamily="34" charset="-122"/>
                <a:cs typeface="Calibri" pitchFamily="34" charset="-120"/>
              </a:rPr>
              <a:t>Every other gap is a slope you can climb. Your own stack needs the one-time ~$30 Google Cloud prepayment or the ~$10/mo fallback - covering neither holds you at "almost ready".</a:t>
            </a:r>
            <a:endParaRPr lang="en-US" sz="1100" dirty="0"/>
          </a:p>
        </p:txBody>
      </p:sp>
      <p:sp>
        <p:nvSpPr>
          <p:cNvPr id="15" name="Shape 13"/>
          <p:cNvSpPr/>
          <p:nvPr/>
        </p:nvSpPr>
        <p:spPr>
          <a:xfrm>
            <a:off x="384048" y="3246120"/>
            <a:ext cx="4114800" cy="1371600"/>
          </a:xfrm>
          <a:prstGeom prst="rect">
            <a:avLst/>
          </a:prstGeom>
          <a:solidFill>
            <a:srgbClr val="1E1E32"/>
          </a:solidFill>
          <a:ln w="10160">
            <a:solidFill>
              <a:srgbClr val="282848"/>
            </a:solidFill>
            <a:prstDash val="solid"/>
          </a:ln>
        </p:spPr>
        <p:txBody>
          <a:bodyPr/>
          <a:p/>
        </p:txBody>
      </p:sp>
      <p:sp>
        <p:nvSpPr>
          <p:cNvPr id="16" name="Shape 14"/>
          <p:cNvSpPr/>
          <p:nvPr/>
        </p:nvSpPr>
        <p:spPr>
          <a:xfrm>
            <a:off x="530352" y="3392424"/>
            <a:ext cx="310896" cy="310896"/>
          </a:xfrm>
          <a:prstGeom prst="ellipse">
            <a:avLst/>
          </a:prstGeom>
          <a:solidFill>
            <a:srgbClr val="C8F064"/>
          </a:solidFill>
          <a:ln w="12700">
            <a:solidFill>
              <a:srgbClr val="C8F064"/>
            </a:solidFill>
            <a:prstDash val="solid"/>
          </a:ln>
        </p:spPr>
        <p:txBody>
          <a:bodyPr/>
          <a:p/>
        </p:txBody>
      </p:sp>
      <p:sp>
        <p:nvSpPr>
          <p:cNvPr id="17" name="Text 15"/>
          <p:cNvSpPr/>
          <p:nvPr/>
        </p:nvSpPr>
        <p:spPr>
          <a:xfrm>
            <a:off x="530352" y="3392424"/>
            <a:ext cx="310896" cy="310896"/>
          </a:xfrm>
          <a:prstGeom prst="rect">
            <a:avLst/>
          </a:prstGeom>
          <a:noFill/>
          <a:ln/>
        </p:spPr>
        <p:txBody>
          <a:bodyPr wrap="square" lIns="0" tIns="0" rIns="0" bIns="0" rtlCol="0" anchor="ctr"/>
          <a:lstStyle/>
          <a:p>
            <a:pPr marL="0" indent="0" algn="ctr">
              <a:buNone/>
            </a:pPr>
            <a:r>
              <a:rPr lang="en-US" sz="1200" b="1" dirty="0">
                <a:solidFill>
                  <a:srgbClr val="0C0C14"/>
                </a:solidFill>
                <a:latin typeface="Trebuchet MS" pitchFamily="34" charset="0"/>
                <a:ea typeface="Trebuchet MS" pitchFamily="34" charset="-122"/>
                <a:cs typeface="Trebuchet MS" pitchFamily="34" charset="-120"/>
              </a:rPr>
              <a:t>3</a:t>
            </a:r>
            <a:endParaRPr lang="en-US" sz="1200" dirty="0"/>
          </a:p>
        </p:txBody>
      </p:sp>
      <p:sp>
        <p:nvSpPr>
          <p:cNvPr id="18" name="Text 16"/>
          <p:cNvSpPr/>
          <p:nvPr/>
        </p:nvSpPr>
        <p:spPr>
          <a:xfrm>
            <a:off x="950976" y="3392424"/>
            <a:ext cx="3383280" cy="329184"/>
          </a:xfrm>
          <a:prstGeom prst="rect">
            <a:avLst/>
          </a:prstGeom>
          <a:noFill/>
          <a:ln/>
        </p:spPr>
        <p:txBody>
          <a:bodyPr wrap="square"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Time and mindset can’t be bought</a:t>
            </a:r>
            <a:endParaRPr lang="en-US" sz="1400" dirty="0"/>
          </a:p>
        </p:txBody>
      </p:sp>
      <p:sp>
        <p:nvSpPr>
          <p:cNvPr id="19" name="Text 17"/>
          <p:cNvSpPr/>
          <p:nvPr/>
        </p:nvSpPr>
        <p:spPr>
          <a:xfrm>
            <a:off x="530352" y="3813048"/>
            <a:ext cx="3840480" cy="713232"/>
          </a:xfrm>
          <a:prstGeom prst="rect">
            <a:avLst/>
          </a:prstGeom>
          <a:noFill/>
          <a:ln/>
        </p:spPr>
        <p:txBody>
          <a:bodyPr wrap="square" rtlCol="0" anchor="ctr"/>
          <a:lstStyle/>
          <a:p>
            <a:pPr marL="0" indent="0">
              <a:buNone/>
            </a:pPr>
            <a:r>
              <a:rPr lang="en-US" sz="1100" dirty="0">
                <a:solidFill>
                  <a:srgbClr val="8A8AA8"/>
                </a:solidFill>
                <a:latin typeface="Calibri" pitchFamily="34" charset="0"/>
                <a:ea typeface="Calibri" pitchFamily="34" charset="-122"/>
                <a:cs typeface="Calibri" pitchFamily="34" charset="-120"/>
              </a:rPr>
              <a:t>We teach the skills and hand you the outreach scripts. Nobody can give you 5-8 hours a week, or the patience to debug at 11pm.</a:t>
            </a:r>
            <a:endParaRPr lang="en-US" sz="1100" dirty="0"/>
          </a:p>
        </p:txBody>
      </p:sp>
      <p:sp>
        <p:nvSpPr>
          <p:cNvPr id="20" name="Shape 18"/>
          <p:cNvSpPr/>
          <p:nvPr/>
        </p:nvSpPr>
        <p:spPr>
          <a:xfrm>
            <a:off x="4681728" y="3246120"/>
            <a:ext cx="4114800" cy="1371600"/>
          </a:xfrm>
          <a:prstGeom prst="rect">
            <a:avLst/>
          </a:prstGeom>
          <a:solidFill>
            <a:srgbClr val="1E1E32"/>
          </a:solidFill>
          <a:ln w="10160">
            <a:solidFill>
              <a:srgbClr val="282848"/>
            </a:solidFill>
            <a:prstDash val="solid"/>
          </a:ln>
        </p:spPr>
        <p:txBody>
          <a:bodyPr/>
          <a:p/>
        </p:txBody>
      </p:sp>
      <p:sp>
        <p:nvSpPr>
          <p:cNvPr id="21" name="Shape 19"/>
          <p:cNvSpPr/>
          <p:nvPr/>
        </p:nvSpPr>
        <p:spPr>
          <a:xfrm>
            <a:off x="4828032" y="3392424"/>
            <a:ext cx="310896" cy="310896"/>
          </a:xfrm>
          <a:prstGeom prst="ellipse">
            <a:avLst/>
          </a:prstGeom>
          <a:solidFill>
            <a:srgbClr val="C8F064"/>
          </a:solidFill>
          <a:ln w="12700">
            <a:solidFill>
              <a:srgbClr val="C8F064"/>
            </a:solidFill>
            <a:prstDash val="solid"/>
          </a:ln>
        </p:spPr>
        <p:txBody>
          <a:bodyPr/>
          <a:p/>
        </p:txBody>
      </p:sp>
      <p:sp>
        <p:nvSpPr>
          <p:cNvPr id="22" name="Text 20"/>
          <p:cNvSpPr/>
          <p:nvPr/>
        </p:nvSpPr>
        <p:spPr>
          <a:xfrm>
            <a:off x="4828032" y="3392424"/>
            <a:ext cx="310896" cy="310896"/>
          </a:xfrm>
          <a:prstGeom prst="rect">
            <a:avLst/>
          </a:prstGeom>
          <a:noFill/>
          <a:ln/>
        </p:spPr>
        <p:txBody>
          <a:bodyPr wrap="square" lIns="0" tIns="0" rIns="0" bIns="0" rtlCol="0" anchor="ctr"/>
          <a:lstStyle/>
          <a:p>
            <a:pPr marL="0" indent="0" algn="ctr">
              <a:buNone/>
            </a:pPr>
            <a:r>
              <a:rPr lang="en-US" sz="1200" b="1" dirty="0">
                <a:solidFill>
                  <a:srgbClr val="0C0C14"/>
                </a:solidFill>
                <a:latin typeface="Trebuchet MS" pitchFamily="34" charset="0"/>
                <a:ea typeface="Trebuchet MS" pitchFamily="34" charset="-122"/>
                <a:cs typeface="Trebuchet MS" pitchFamily="34" charset="-120"/>
              </a:rPr>
              <a:t>4</a:t>
            </a:r>
            <a:endParaRPr lang="en-US" sz="1200" dirty="0"/>
          </a:p>
        </p:txBody>
      </p:sp>
      <p:sp>
        <p:nvSpPr>
          <p:cNvPr id="23" name="Text 21"/>
          <p:cNvSpPr/>
          <p:nvPr/>
        </p:nvSpPr>
        <p:spPr>
          <a:xfrm>
            <a:off x="5248656" y="3392424"/>
            <a:ext cx="3383280" cy="329184"/>
          </a:xfrm>
          <a:prstGeom prst="rect">
            <a:avLst/>
          </a:prstGeom>
          <a:noFill/>
          <a:ln/>
        </p:spPr>
        <p:txBody>
          <a:bodyPr wrap="square"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"Not yet" is a sequence</a:t>
            </a:r>
            <a:endParaRPr lang="en-US" sz="1400" dirty="0"/>
          </a:p>
        </p:txBody>
      </p:sp>
      <p:sp>
        <p:nvSpPr>
          <p:cNvPr id="24" name="Text 22"/>
          <p:cNvSpPr/>
          <p:nvPr/>
        </p:nvSpPr>
        <p:spPr>
          <a:xfrm>
            <a:off x="4828032" y="3813048"/>
            <a:ext cx="3840480" cy="713232"/>
          </a:xfrm>
          <a:prstGeom prst="rect">
            <a:avLst/>
          </a:prstGeom>
          <a:noFill/>
          <a:ln/>
        </p:spPr>
        <p:txBody>
          <a:bodyPr wrap="square" rtlCol="0" anchor="ctr"/>
          <a:lstStyle/>
          <a:p>
            <a:pPr marL="0" indent="0">
              <a:buNone/>
            </a:pPr>
            <a:r>
              <a:rPr lang="en-US" sz="1100" dirty="0">
                <a:solidFill>
                  <a:srgbClr val="8A8AA8"/>
                </a:solidFill>
                <a:latin typeface="Calibri" pitchFamily="34" charset="0"/>
                <a:ea typeface="Calibri" pitchFamily="34" charset="-122"/>
                <a:cs typeface="Calibri" pitchFamily="34" charset="-120"/>
              </a:rPr>
              <a:t>It’s not a verdict on you. Close the gaps in the order that actually blocks you, then retake it. Three months moves the number.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C8F064"/>
          </a:solidFill>
          <a:ln w="12700">
            <a:solidFill>
              <a:srgbClr val="C8F064"/>
            </a:solidFill>
            <a:prstDash val="solid"/>
          </a:ln>
        </p:spPr>
        <p:txBody>
          <a:bodyPr/>
          <a:p/>
        </p:txBody>
      </p:sp>
      <p:sp>
        <p:nvSpPr>
          <p:cNvPr id="3" name="Text 1"/>
          <p:cNvSpPr/>
          <p:nvPr/>
        </p:nvSpPr>
        <p:spPr>
          <a:xfrm>
            <a:off x="457200" y="274320"/>
            <a:ext cx="8229600" cy="256032"/>
          </a:xfrm>
          <a:prstGeom prst="rect">
            <a:avLst/>
          </a:prstGeom>
          <a:noFill/>
          <a:ln/>
        </p:spPr>
        <p:txBody>
          <a:bodyPr wrap="square" rtlCol="0" anchor="ctr"/>
          <a:lstStyle/>
          <a:p>
            <a:pPr marL="0" indent="0">
              <a:buNone/>
            </a:pPr>
            <a:r>
              <a:rPr lang="en-US" sz="1000" b="1" kern="0" spc="500" dirty="0">
                <a:solidFill>
                  <a:srgbClr val="6B6B82"/>
                </a:solidFill>
                <a:latin typeface="Trebuchet MS" pitchFamily="34" charset="0"/>
                <a:ea typeface="Trebuchet MS" pitchFamily="34" charset="-122"/>
                <a:cs typeface="Trebuchet MS" pitchFamily="34" charset="-120"/>
              </a:rPr>
              <a:t>YOUR TAKEAWAYS</a:t>
            </a:r>
            <a:endParaRPr lang="en-US" sz="1000" dirty="0"/>
          </a:p>
        </p:txBody>
      </p:sp>
      <p:sp>
        <p:nvSpPr>
          <p:cNvPr id="4" name="Text 2"/>
          <p:cNvSpPr/>
          <p:nvPr/>
        </p:nvSpPr>
        <p:spPr>
          <a:xfrm>
            <a:off x="411480" y="566928"/>
            <a:ext cx="6858000" cy="594360"/>
          </a:xfrm>
          <a:prstGeom prst="rect">
            <a:avLst/>
          </a:prstGeom>
          <a:noFill/>
          <a:ln/>
        </p:spPr>
        <p:txBody>
          <a:bodyPr wrap="square" rtlCol="0" anchor="ctr"/>
          <a:lstStyle/>
          <a:p>
            <a:pPr marL="0" indent="0">
              <a:buNone/>
            </a:pPr>
            <a:r>
              <a:rPr lang="en-US" sz="2600" b="1" dirty="0">
                <a:solidFill>
                  <a:srgbClr val="0C0C14"/>
                </a:solidFill>
                <a:latin typeface="Trebuchet MS" pitchFamily="34" charset="0"/>
                <a:ea typeface="Trebuchet MS" pitchFamily="34" charset="-122"/>
                <a:cs typeface="Trebuchet MS" pitchFamily="34" charset="-120"/>
              </a:rPr>
              <a:t>The three tools you used today - yours to keep.</a:t>
            </a:r>
            <a:endParaRPr lang="en-US" sz="2600" dirty="0"/>
          </a:p>
        </p:txBody>
      </p:sp>
      <p:sp>
        <p:nvSpPr>
          <p:cNvPr id="5" name="Shape 3"/>
          <p:cNvSpPr/>
          <p:nvPr/>
        </p:nvSpPr>
        <p:spPr>
          <a:xfrm>
            <a:off x="411480" y="1417320"/>
            <a:ext cx="2743200" cy="3337560"/>
          </a:xfrm>
          <a:prstGeom prst="rect">
            <a:avLst/>
          </a:prstGeom>
          <a:solidFill>
            <a:srgbClr val="0C0C14"/>
          </a:solidFill>
          <a:ln w="12700">
            <a:solidFill>
              <a:srgbClr val="0C0C14"/>
            </a:solidFill>
            <a:prstDash val="solid"/>
          </a:ln>
        </p:spPr>
        <p:txBody>
          <a:bodyPr/>
          <a:p/>
        </p:txBody>
      </p:sp>
      <p:sp>
        <p:nvSpPr>
          <p:cNvPr id="6" name="Text 4"/>
          <p:cNvSpPr/>
          <p:nvPr/>
        </p:nvSpPr>
        <p:spPr>
          <a:xfrm>
            <a:off x="576072" y="1572768"/>
            <a:ext cx="1371600" cy="621792"/>
          </a:xfrm>
          <a:prstGeom prst="rect">
            <a:avLst/>
          </a:prstGeom>
          <a:noFill/>
          <a:ln/>
        </p:spPr>
        <p:txBody>
          <a:bodyPr wrap="square" rtlCol="0" anchor="ctr"/>
          <a:lstStyle/>
          <a:p>
            <a:pPr marL="0" indent="0">
              <a:buNone/>
            </a:pPr>
            <a:r>
              <a:rPr lang="en-US" sz="3600" b="1" dirty="0">
                <a:solidFill>
                  <a:srgbClr val="C8F064"/>
                </a:solidFill>
                <a:latin typeface="Trebuchet MS" pitchFamily="34" charset="0"/>
                <a:ea typeface="Trebuchet MS" pitchFamily="34" charset="-122"/>
                <a:cs typeface="Trebuchet MS" pitchFamily="34" charset="-120"/>
              </a:rPr>
              <a:t>01</a:t>
            </a:r>
            <a:endParaRPr lang="en-US" sz="3600" dirty="0"/>
          </a:p>
        </p:txBody>
      </p:sp>
      <p:sp>
        <p:nvSpPr>
          <p:cNvPr id="7" name="Text 5"/>
          <p:cNvSpPr/>
          <p:nvPr/>
        </p:nvSpPr>
        <p:spPr>
          <a:xfrm>
            <a:off x="576072" y="2267712"/>
            <a:ext cx="2423160" cy="548640"/>
          </a:xfrm>
          <a:prstGeom prst="rect">
            <a:avLst/>
          </a:prstGeom>
          <a:noFill/>
          <a:ln/>
        </p:spPr>
        <p:txBody>
          <a:bodyPr wrap="square"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Tool Stack Guide · Session 2</a:t>
            </a:r>
            <a:endParaRPr lang="en-US" sz="1500" dirty="0"/>
          </a:p>
        </p:txBody>
      </p:sp>
      <p:sp>
        <p:nvSpPr>
          <p:cNvPr id="8" name="Shape 6"/>
          <p:cNvSpPr/>
          <p:nvPr/>
        </p:nvSpPr>
        <p:spPr>
          <a:xfrm>
            <a:off x="576072" y="2852928"/>
            <a:ext cx="2423160" cy="0"/>
          </a:xfrm>
          <a:prstGeom prst="line">
            <a:avLst/>
          </a:prstGeom>
          <a:noFill/>
          <a:ln w="10160">
            <a:solidFill>
              <a:srgbClr val="282845"/>
            </a:solidFill>
            <a:prstDash val="solid"/>
          </a:ln>
        </p:spPr>
        <p:txBody>
          <a:bodyPr/>
          <a:p/>
        </p:txBody>
      </p:sp>
      <p:sp>
        <p:nvSpPr>
          <p:cNvPr id="9" name="Text 7"/>
          <p:cNvSpPr/>
          <p:nvPr/>
        </p:nvSpPr>
        <p:spPr>
          <a:xfrm>
            <a:off x="576072" y="2944368"/>
            <a:ext cx="2423160" cy="1691640"/>
          </a:xfrm>
          <a:prstGeom prst="rect">
            <a:avLst/>
          </a:prstGeom>
          <a:noFill/>
          <a:ln/>
        </p:spPr>
        <p:txBody>
          <a:bodyPr wrap="square" rtlCol="0" anchor="ctr"/>
          <a:lstStyle/>
          <a:p>
            <a:pPr marL="0" indent="0">
              <a:buNone/>
            </a:pPr>
            <a:r>
              <a:rPr lang="en-US" sz="1050" dirty="0">
                <a:solidFill>
                  <a:srgbClr val="8A8AA8"/>
                </a:solidFill>
                <a:latin typeface="Calibri" pitchFamily="34" charset="0"/>
                <a:ea typeface="Calibri" pitchFamily="34" charset="-122"/>
                <a:cs typeface="Calibri" pitchFamily="34" charset="-120"/>
              </a:rPr>
              <a:t>20 tools across 3 levels - beginner, intermediate, advanced - with real monthly costs and honest descriptions. Includes 4 recommended stacks for the most common client use cases.</a:t>
            </a:r>
            <a:endParaRPr lang="en-US" sz="1050" dirty="0"/>
          </a:p>
        </p:txBody>
      </p:sp>
      <p:sp>
        <p:nvSpPr>
          <p:cNvPr id="10" name="Shape 8"/>
          <p:cNvSpPr/>
          <p:nvPr/>
        </p:nvSpPr>
        <p:spPr>
          <a:xfrm>
            <a:off x="3319272" y="1417320"/>
            <a:ext cx="2743200" cy="3337560"/>
          </a:xfrm>
          <a:prstGeom prst="rect">
            <a:avLst/>
          </a:prstGeom>
          <a:solidFill>
            <a:srgbClr val="0C0C14"/>
          </a:solidFill>
          <a:ln w="12700">
            <a:solidFill>
              <a:srgbClr val="0C0C14"/>
            </a:solidFill>
            <a:prstDash val="solid"/>
          </a:ln>
        </p:spPr>
        <p:txBody>
          <a:bodyPr/>
          <a:p/>
        </p:txBody>
      </p:sp>
      <p:sp>
        <p:nvSpPr>
          <p:cNvPr id="11" name="Text 9"/>
          <p:cNvSpPr/>
          <p:nvPr/>
        </p:nvSpPr>
        <p:spPr>
          <a:xfrm>
            <a:off x="3483864" y="1572768"/>
            <a:ext cx="1371600" cy="621792"/>
          </a:xfrm>
          <a:prstGeom prst="rect">
            <a:avLst/>
          </a:prstGeom>
          <a:noFill/>
          <a:ln/>
        </p:spPr>
        <p:txBody>
          <a:bodyPr wrap="square" rtlCol="0" anchor="ctr"/>
          <a:lstStyle/>
          <a:p>
            <a:pPr marL="0" indent="0">
              <a:buNone/>
            </a:pPr>
            <a:r>
              <a:rPr lang="en-US" sz="3600" b="1" dirty="0">
                <a:solidFill>
                  <a:srgbClr val="C8F064"/>
                </a:solidFill>
                <a:latin typeface="Trebuchet MS" pitchFamily="34" charset="0"/>
                <a:ea typeface="Trebuchet MS" pitchFamily="34" charset="-122"/>
                <a:cs typeface="Trebuchet MS" pitchFamily="34" charset="-120"/>
              </a:rPr>
              <a:t>02</a:t>
            </a:r>
            <a:endParaRPr lang="en-US" sz="3600" dirty="0"/>
          </a:p>
        </p:txBody>
      </p:sp>
      <p:sp>
        <p:nvSpPr>
          <p:cNvPr id="12" name="Text 10"/>
          <p:cNvSpPr/>
          <p:nvPr/>
        </p:nvSpPr>
        <p:spPr>
          <a:xfrm>
            <a:off x="3483864" y="2267712"/>
            <a:ext cx="2423160" cy="548640"/>
          </a:xfrm>
          <a:prstGeom prst="rect">
            <a:avLst/>
          </a:prstGeom>
          <a:noFill/>
          <a:ln/>
        </p:spPr>
        <p:txBody>
          <a:bodyPr wrap="square"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ROI Calculator · Session 3</a:t>
            </a:r>
            <a:endParaRPr lang="en-US" sz="1500" dirty="0"/>
          </a:p>
        </p:txBody>
      </p:sp>
      <p:sp>
        <p:nvSpPr>
          <p:cNvPr id="13" name="Shape 11"/>
          <p:cNvSpPr/>
          <p:nvPr/>
        </p:nvSpPr>
        <p:spPr>
          <a:xfrm>
            <a:off x="3483864" y="2852928"/>
            <a:ext cx="2423160" cy="0"/>
          </a:xfrm>
          <a:prstGeom prst="line">
            <a:avLst/>
          </a:prstGeom>
          <a:noFill/>
          <a:ln w="10160">
            <a:solidFill>
              <a:srgbClr val="282845"/>
            </a:solidFill>
            <a:prstDash val="solid"/>
          </a:ln>
        </p:spPr>
        <p:txBody>
          <a:bodyPr/>
          <a:p/>
        </p:txBody>
      </p:sp>
      <p:sp>
        <p:nvSpPr>
          <p:cNvPr id="14" name="Text 12"/>
          <p:cNvSpPr/>
          <p:nvPr/>
        </p:nvSpPr>
        <p:spPr>
          <a:xfrm>
            <a:off x="3483864" y="2944368"/>
            <a:ext cx="2423160" cy="1691640"/>
          </a:xfrm>
          <a:prstGeom prst="rect">
            <a:avLst/>
          </a:prstGeom>
          <a:noFill/>
          <a:ln/>
        </p:spPr>
        <p:txBody>
          <a:bodyPr wrap="square" rtlCol="0" anchor="ctr"/>
          <a:lstStyle/>
          <a:p>
            <a:pPr marL="0" indent="0">
              <a:buNone/>
            </a:pPr>
            <a:r>
              <a:rPr lang="en-US" sz="1050" dirty="0">
                <a:solidFill>
                  <a:srgbClr val="8A8AA8"/>
                </a:solidFill>
                <a:latin typeface="Calibri" pitchFamily="34" charset="0"/>
                <a:ea typeface="Calibri" pitchFamily="34" charset="-122"/>
                <a:cs typeface="Calibri" pitchFamily="34" charset="-120"/>
              </a:rPr>
              <a:t>Your actual cost and revenue numbers, filled in live during Session 3. Monthly tool costs, break-even month, and a 12-month revenue projection built from your own inputs.</a:t>
            </a:r>
            <a:endParaRPr lang="en-US" sz="1050" dirty="0"/>
          </a:p>
        </p:txBody>
      </p:sp>
      <p:sp>
        <p:nvSpPr>
          <p:cNvPr id="15" name="Shape 13"/>
          <p:cNvSpPr/>
          <p:nvPr/>
        </p:nvSpPr>
        <p:spPr>
          <a:xfrm>
            <a:off x="6227064" y="1417320"/>
            <a:ext cx="2743200" cy="3337560"/>
          </a:xfrm>
          <a:prstGeom prst="rect">
            <a:avLst/>
          </a:prstGeom>
          <a:solidFill>
            <a:srgbClr val="0C0C14"/>
          </a:solidFill>
          <a:ln w="12700">
            <a:solidFill>
              <a:srgbClr val="0C0C14"/>
            </a:solidFill>
            <a:prstDash val="solid"/>
          </a:ln>
        </p:spPr>
        <p:txBody>
          <a:bodyPr/>
          <a:p/>
        </p:txBody>
      </p:sp>
      <p:sp>
        <p:nvSpPr>
          <p:cNvPr id="16" name="Text 14"/>
          <p:cNvSpPr/>
          <p:nvPr/>
        </p:nvSpPr>
        <p:spPr>
          <a:xfrm>
            <a:off x="6391656" y="1572768"/>
            <a:ext cx="1371600" cy="621792"/>
          </a:xfrm>
          <a:prstGeom prst="rect">
            <a:avLst/>
          </a:prstGeom>
          <a:noFill/>
          <a:ln/>
        </p:spPr>
        <p:txBody>
          <a:bodyPr wrap="square" rtlCol="0" anchor="ctr"/>
          <a:lstStyle/>
          <a:p>
            <a:pPr marL="0" indent="0">
              <a:buNone/>
            </a:pPr>
            <a:r>
              <a:rPr lang="en-US" sz="3600" b="1" dirty="0">
                <a:solidFill>
                  <a:srgbClr val="C8F064"/>
                </a:solidFill>
                <a:latin typeface="Trebuchet MS" pitchFamily="34" charset="0"/>
                <a:ea typeface="Trebuchet MS" pitchFamily="34" charset="-122"/>
                <a:cs typeface="Trebuchet MS" pitchFamily="34" charset="-120"/>
              </a:rPr>
              <a:t>03</a:t>
            </a:r>
            <a:endParaRPr lang="en-US" sz="3600" dirty="0"/>
          </a:p>
        </p:txBody>
      </p:sp>
      <p:sp>
        <p:nvSpPr>
          <p:cNvPr id="17" name="Text 15"/>
          <p:cNvSpPr/>
          <p:nvPr/>
        </p:nvSpPr>
        <p:spPr>
          <a:xfrm>
            <a:off x="6391656" y="2267712"/>
            <a:ext cx="2423160" cy="548640"/>
          </a:xfrm>
          <a:prstGeom prst="rect">
            <a:avLst/>
          </a:prstGeom>
          <a:noFill/>
          <a:ln/>
        </p:spPr>
        <p:txBody>
          <a:bodyPr wrap="square"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Readiness Scorecard · Session 5</a:t>
            </a:r>
            <a:endParaRPr lang="en-US" sz="1500" dirty="0"/>
          </a:p>
        </p:txBody>
      </p:sp>
      <p:sp>
        <p:nvSpPr>
          <p:cNvPr id="18" name="Shape 16"/>
          <p:cNvSpPr/>
          <p:nvPr/>
        </p:nvSpPr>
        <p:spPr>
          <a:xfrm>
            <a:off x="6391656" y="2852928"/>
            <a:ext cx="2423160" cy="0"/>
          </a:xfrm>
          <a:prstGeom prst="line">
            <a:avLst/>
          </a:prstGeom>
          <a:noFill/>
          <a:ln w="10160">
            <a:solidFill>
              <a:srgbClr val="282845"/>
            </a:solidFill>
            <a:prstDash val="solid"/>
          </a:ln>
        </p:spPr>
        <p:txBody>
          <a:bodyPr/>
          <a:p/>
        </p:txBody>
      </p:sp>
      <p:sp>
        <p:nvSpPr>
          <p:cNvPr id="19" name="Text 17"/>
          <p:cNvSpPr/>
          <p:nvPr/>
        </p:nvSpPr>
        <p:spPr>
          <a:xfrm>
            <a:off x="6391656" y="2944368"/>
            <a:ext cx="2423160" cy="1691640"/>
          </a:xfrm>
          <a:prstGeom prst="rect">
            <a:avLst/>
          </a:prstGeom>
          <a:noFill/>
          <a:ln/>
        </p:spPr>
        <p:txBody>
          <a:bodyPr wrap="square" rtlCol="0" anchor="ctr"/>
          <a:lstStyle/>
          <a:p>
            <a:pPr marL="0" indent="0">
              <a:buNone/>
            </a:pPr>
            <a:r>
              <a:rPr lang="en-US" sz="1050" dirty="0">
                <a:solidFill>
                  <a:srgbClr val="8A8AA8"/>
                </a:solidFill>
                <a:latin typeface="Calibri" pitchFamily="34" charset="0"/>
                <a:ea typeface="Calibri" pitchFamily="34" charset="-122"/>
                <a:cs typeface="Calibri" pitchFamily="34" charset="-120"/>
              </a:rPr>
              <a:t>10 questions across 5 dimensions - skills, time, setup, mindset, and market. You get a personalised score, a verdict, and a specific action plan for your outcome bucket.</a:t>
            </a:r>
            <a:endParaRPr lang="en-US" sz="1050" dirty="0"/>
          </a:p>
        </p:txBody>
      </p:sp>
      <p:sp>
        <p:nvSpPr>
          <p:cNvPr id="20" name="Text 18"/>
          <p:cNvSpPr/>
          <p:nvPr/>
        </p:nvSpPr>
        <p:spPr>
          <a:xfrm>
            <a:off x="411480" y="4864608"/>
            <a:ext cx="8229600" cy="219456"/>
          </a:xfrm>
          <a:prstGeom prst="rect">
            <a:avLst/>
          </a:prstGeom>
          <a:noFill/>
          <a:ln/>
        </p:spPr>
        <p:txBody>
          <a:bodyPr wrap="square" rtlCol="0" anchor="ctr"/>
          <a:lstStyle/>
          <a:p>
            <a:pPr marL="0" indent="0">
              <a:buNone/>
            </a:pPr>
            <a:r>
              <a:rPr lang="en-US" sz="1000" i="1" dirty="0">
                <a:solidFill>
                  <a:srgbClr val="6B6B82"/>
                </a:solidFill>
                <a:latin typeface="Calibri" pitchFamily="34" charset="0"/>
                <a:ea typeface="Calibri" pitchFamily="34" charset="-122"/>
                <a:cs typeface="Calibri" pitchFamily="34" charset="-120"/>
              </a:rPr>
              <a:t>You're already on the list - links go straight in the chat. No sign-up.</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C14"/>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C8F064"/>
          </a:solidFill>
          <a:ln w="12700">
            <a:solidFill>
              <a:srgbClr val="C8F064"/>
            </a:solidFill>
            <a:prstDash val="solid"/>
          </a:ln>
        </p:spPr>
        <p:txBody>
          <a:bodyPr/>
          <a:p/>
        </p:txBody>
      </p:sp>
      <p:sp>
        <p:nvSpPr>
          <p:cNvPr id="3" name="Text 1"/>
          <p:cNvSpPr/>
          <p:nvPr/>
        </p:nvSpPr>
        <p:spPr>
          <a:xfrm>
            <a:off x="457200" y="274320"/>
            <a:ext cx="8229600" cy="256032"/>
          </a:xfrm>
          <a:prstGeom prst="rect">
            <a:avLst/>
          </a:prstGeom>
          <a:noFill/>
          <a:ln/>
        </p:spPr>
        <p:txBody>
          <a:bodyPr wrap="square" rtlCol="0" anchor="ctr"/>
          <a:lstStyle/>
          <a:p>
            <a:pPr marL="0" indent="0">
              <a:buNone/>
            </a:pPr>
            <a:r>
              <a:rPr lang="en-US" sz="1000" b="1" kern="0" spc="500" dirty="0">
                <a:solidFill>
                  <a:srgbClr val="C8F064"/>
                </a:solidFill>
                <a:latin typeface="Trebuchet MS" pitchFamily="34" charset="0"/>
                <a:ea typeface="Trebuchet MS" pitchFamily="34" charset="-122"/>
                <a:cs typeface="Trebuchet MS" pitchFamily="34" charset="-120"/>
              </a:rPr>
              <a:t>WHAT COMES NEXT</a:t>
            </a:r>
            <a:endParaRPr lang="en-US" sz="1000" dirty="0"/>
          </a:p>
        </p:txBody>
      </p:sp>
      <p:sp>
        <p:nvSpPr>
          <p:cNvPr id="4" name="Text 2"/>
          <p:cNvSpPr/>
          <p:nvPr/>
        </p:nvSpPr>
        <p:spPr>
          <a:xfrm>
            <a:off x="438912" y="566928"/>
            <a:ext cx="7772400" cy="1188720"/>
          </a:xfrm>
          <a:prstGeom prst="rect">
            <a:avLst/>
          </a:prstGeom>
          <a:noFill/>
          <a:ln/>
        </p:spPr>
        <p:txBody>
          <a:bodyPr wrap="square"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Three paths forward.</a:t>
            </a:r>
            <a:endParaRPr lang="en-US" sz="2800" dirty="0"/>
          </a:p>
          <a:p>
            <a:pPr marL="0" indent="0">
              <a:buNone/>
            </a:pPr>
            <a:r>
              <a:rPr lang="en-US" sz="2800" b="1" dirty="0">
                <a:solidFill>
                  <a:srgbClr val="FFFFFF"/>
                </a:solidFill>
                <a:latin typeface="Trebuchet MS" pitchFamily="34" charset="0"/>
                <a:ea typeface="Trebuchet MS" pitchFamily="34" charset="-122"/>
                <a:cs typeface="Trebuchet MS" pitchFamily="34" charset="-120"/>
              </a:rPr>
              <a:t>Only one is right for you.</a:t>
            </a:r>
            <a:endParaRPr lang="en-US" sz="2800" dirty="0"/>
          </a:p>
        </p:txBody>
      </p:sp>
      <p:sp>
        <p:nvSpPr>
          <p:cNvPr id="5" name="Shape 3"/>
          <p:cNvSpPr/>
          <p:nvPr/>
        </p:nvSpPr>
        <p:spPr>
          <a:xfrm>
            <a:off x="384048" y="1920240"/>
            <a:ext cx="2743200" cy="2697480"/>
          </a:xfrm>
          <a:prstGeom prst="rect">
            <a:avLst/>
          </a:prstGeom>
          <a:solidFill>
            <a:srgbClr val="131E08"/>
          </a:solidFill>
          <a:ln w="19050">
            <a:solidFill>
              <a:srgbClr val="C8F064"/>
            </a:solidFill>
            <a:prstDash val="solid"/>
          </a:ln>
        </p:spPr>
        <p:txBody>
          <a:bodyPr/>
          <a:p/>
        </p:txBody>
      </p:sp>
      <p:sp>
        <p:nvSpPr>
          <p:cNvPr id="6" name="Text 4"/>
          <p:cNvSpPr/>
          <p:nvPr/>
        </p:nvSpPr>
        <p:spPr>
          <a:xfrm>
            <a:off x="548640" y="2029968"/>
            <a:ext cx="2423160" cy="256032"/>
          </a:xfrm>
          <a:prstGeom prst="rect">
            <a:avLst/>
          </a:prstGeom>
          <a:noFill/>
          <a:ln/>
        </p:spPr>
        <p:txBody>
          <a:bodyPr wrap="square" rtlCol="0" anchor="ctr"/>
          <a:lstStyle/>
          <a:p>
            <a:pPr marL="0" indent="0">
              <a:buNone/>
            </a:pPr>
            <a:r>
              <a:rPr lang="en-US" sz="900" b="1" kern="0" spc="400" dirty="0">
                <a:solidFill>
                  <a:srgbClr val="C8F064"/>
                </a:solidFill>
                <a:latin typeface="Trebuchet MS" pitchFamily="34" charset="0"/>
                <a:ea typeface="Trebuchet MS" pitchFamily="34" charset="-122"/>
                <a:cs typeface="Trebuchet MS" pitchFamily="34" charset="-120"/>
              </a:rPr>
              <a:t>PATH  01</a:t>
            </a:r>
            <a:endParaRPr lang="en-US" sz="900" dirty="0"/>
          </a:p>
        </p:txBody>
      </p:sp>
      <p:sp>
        <p:nvSpPr>
          <p:cNvPr id="7" name="Text 5"/>
          <p:cNvSpPr/>
          <p:nvPr/>
        </p:nvSpPr>
        <p:spPr>
          <a:xfrm>
            <a:off x="548640" y="2322576"/>
            <a:ext cx="2423160" cy="402336"/>
          </a:xfrm>
          <a:prstGeom prst="rect">
            <a:avLst/>
          </a:prstGeom>
          <a:noFill/>
          <a:ln/>
        </p:spPr>
        <p:txBody>
          <a:bodyPr wrap="square" rtlCol="0" anchor="ctr"/>
          <a:lstStyle/>
          <a:p>
            <a:pPr marL="0" indent="0">
              <a:buNone/>
            </a:pPr>
            <a:r>
              <a:rPr lang="en-US" sz="1600" b="1" dirty="0">
                <a:solidFill>
                  <a:srgbClr val="C8F064"/>
                </a:solidFill>
                <a:latin typeface="Trebuchet MS" pitchFamily="34" charset="0"/>
                <a:ea typeface="Trebuchet MS" pitchFamily="34" charset="-122"/>
                <a:cs typeface="Trebuchet MS" pitchFamily="34" charset="-120"/>
              </a:rPr>
              <a:t>Ready to start</a:t>
            </a:r>
            <a:endParaRPr lang="en-US" sz="1600" dirty="0"/>
          </a:p>
        </p:txBody>
      </p:sp>
      <p:sp>
        <p:nvSpPr>
          <p:cNvPr id="8" name="Shape 6"/>
          <p:cNvSpPr/>
          <p:nvPr/>
        </p:nvSpPr>
        <p:spPr>
          <a:xfrm>
            <a:off x="548640" y="2761488"/>
            <a:ext cx="2423160" cy="0"/>
          </a:xfrm>
          <a:prstGeom prst="line">
            <a:avLst/>
          </a:prstGeom>
          <a:noFill/>
          <a:ln w="10160">
            <a:solidFill>
              <a:srgbClr val="282845"/>
            </a:solidFill>
            <a:prstDash val="solid"/>
          </a:ln>
        </p:spPr>
        <p:txBody>
          <a:bodyPr/>
          <a:p/>
        </p:txBody>
      </p:sp>
      <p:sp>
        <p:nvSpPr>
          <p:cNvPr id="9" name="Text 7"/>
          <p:cNvSpPr/>
          <p:nvPr/>
        </p:nvSpPr>
        <p:spPr>
          <a:xfrm>
            <a:off x="548640" y="2852928"/>
            <a:ext cx="2423160" cy="1572768"/>
          </a:xfrm>
          <a:prstGeom prst="rect">
            <a:avLst/>
          </a:prstGeom>
          <a:noFill/>
          <a:ln/>
        </p:spPr>
        <p:txBody>
          <a:bodyPr wrap="square" rtlCol="0" anchor="ctr"/>
          <a:lstStyle/>
          <a:p>
            <a:pPr marL="0" indent="0">
              <a:buNone/>
            </a:pPr>
            <a:r>
              <a:rPr lang="en-US" sz="1100" dirty="0">
                <a:solidFill>
                  <a:srgbClr val="8A8AA8"/>
                </a:solidFill>
                <a:latin typeface="Calibri" pitchFamily="34" charset="0"/>
                <a:ea typeface="Calibri" pitchFamily="34" charset="-122"/>
                <a:cs typeface="Calibri" pitchFamily="34" charset="-120"/>
              </a:rPr>
              <a:t>Enrol in the AI Automation Accelerator. ₦100,000 today with code TAAB100, normally ₦120,000. Or ₦64,000 × 2. 8 weeks · 9 automations · certificate on completion.</a:t>
            </a:r>
            <a:endParaRPr lang="en-US" sz="1100" dirty="0"/>
          </a:p>
        </p:txBody>
      </p:sp>
      <p:sp>
        <p:nvSpPr>
          <p:cNvPr id="10" name="Shape 8"/>
          <p:cNvSpPr/>
          <p:nvPr/>
        </p:nvSpPr>
        <p:spPr>
          <a:xfrm>
            <a:off x="3310128" y="1920240"/>
            <a:ext cx="2743200" cy="2697480"/>
          </a:xfrm>
          <a:prstGeom prst="rect">
            <a:avLst/>
          </a:prstGeom>
          <a:solidFill>
            <a:srgbClr val="1E1E32"/>
          </a:solidFill>
          <a:ln w="10160">
            <a:solidFill>
              <a:srgbClr val="252545"/>
            </a:solidFill>
            <a:prstDash val="solid"/>
          </a:ln>
        </p:spPr>
        <p:txBody>
          <a:bodyPr/>
          <a:p/>
        </p:txBody>
      </p:sp>
      <p:sp>
        <p:nvSpPr>
          <p:cNvPr id="11" name="Text 9"/>
          <p:cNvSpPr/>
          <p:nvPr/>
        </p:nvSpPr>
        <p:spPr>
          <a:xfrm>
            <a:off x="3474720" y="2029968"/>
            <a:ext cx="2423160" cy="256032"/>
          </a:xfrm>
          <a:prstGeom prst="rect">
            <a:avLst/>
          </a:prstGeom>
          <a:noFill/>
          <a:ln/>
        </p:spPr>
        <p:txBody>
          <a:bodyPr wrap="square" rtlCol="0" anchor="ctr"/>
          <a:lstStyle/>
          <a:p>
            <a:pPr marL="0" indent="0">
              <a:buNone/>
            </a:pPr>
            <a:r>
              <a:rPr lang="en-US" sz="900" b="1" kern="0" spc="400" dirty="0">
                <a:solidFill>
                  <a:srgbClr val="8A8AA8"/>
                </a:solidFill>
                <a:latin typeface="Trebuchet MS" pitchFamily="34" charset="0"/>
                <a:ea typeface="Trebuchet MS" pitchFamily="34" charset="-122"/>
                <a:cs typeface="Trebuchet MS" pitchFamily="34" charset="-120"/>
              </a:rPr>
              <a:t>PATH  02</a:t>
            </a:r>
            <a:endParaRPr lang="en-US" sz="900" dirty="0"/>
          </a:p>
        </p:txBody>
      </p:sp>
      <p:sp>
        <p:nvSpPr>
          <p:cNvPr id="12" name="Text 10"/>
          <p:cNvSpPr/>
          <p:nvPr/>
        </p:nvSpPr>
        <p:spPr>
          <a:xfrm>
            <a:off x="3474720" y="2322576"/>
            <a:ext cx="2423160" cy="402336"/>
          </a:xfrm>
          <a:prstGeom prst="rect">
            <a:avLst/>
          </a:prstGeom>
          <a:noFill/>
          <a:ln/>
        </p:spPr>
        <p:txBody>
          <a:bodyPr wrap="square"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Almost ready</a:t>
            </a:r>
            <a:endParaRPr lang="en-US" sz="1600" dirty="0"/>
          </a:p>
        </p:txBody>
      </p:sp>
      <p:sp>
        <p:nvSpPr>
          <p:cNvPr id="13" name="Shape 11"/>
          <p:cNvSpPr/>
          <p:nvPr/>
        </p:nvSpPr>
        <p:spPr>
          <a:xfrm>
            <a:off x="3474720" y="2761488"/>
            <a:ext cx="2423160" cy="0"/>
          </a:xfrm>
          <a:prstGeom prst="line">
            <a:avLst/>
          </a:prstGeom>
          <a:noFill/>
          <a:ln w="10160">
            <a:solidFill>
              <a:srgbClr val="282845"/>
            </a:solidFill>
            <a:prstDash val="solid"/>
          </a:ln>
        </p:spPr>
        <p:txBody>
          <a:bodyPr/>
          <a:p/>
        </p:txBody>
      </p:sp>
      <p:sp>
        <p:nvSpPr>
          <p:cNvPr id="14" name="Text 12"/>
          <p:cNvSpPr/>
          <p:nvPr/>
        </p:nvSpPr>
        <p:spPr>
          <a:xfrm>
            <a:off x="3474720" y="2852928"/>
            <a:ext cx="2423160" cy="1572768"/>
          </a:xfrm>
          <a:prstGeom prst="rect">
            <a:avLst/>
          </a:prstGeom>
          <a:noFill/>
          <a:ln/>
        </p:spPr>
        <p:txBody>
          <a:bodyPr wrap="square" rtlCol="0" anchor="ctr"/>
          <a:lstStyle/>
          <a:p>
            <a:pPr marL="0" indent="0">
              <a:buNone/>
            </a:pPr>
            <a:r>
              <a:rPr lang="en-US" sz="1100" dirty="0">
                <a:solidFill>
                  <a:srgbClr val="8A8AA8"/>
                </a:solidFill>
                <a:latin typeface="Calibri" pitchFamily="34" charset="0"/>
                <a:ea typeface="Calibri" pitchFamily="34" charset="-122"/>
                <a:cs typeface="Calibri" pitchFamily="34" charset="-120"/>
              </a:rPr>
              <a:t>Join the waitlist and keep today's three tools. Close your specific gaps, retake the scorecard, and come in on the next cohort.</a:t>
            </a:r>
            <a:endParaRPr lang="en-US" sz="1100" dirty="0"/>
          </a:p>
        </p:txBody>
      </p:sp>
      <p:sp>
        <p:nvSpPr>
          <p:cNvPr id="15" name="Shape 13"/>
          <p:cNvSpPr/>
          <p:nvPr/>
        </p:nvSpPr>
        <p:spPr>
          <a:xfrm>
            <a:off x="6236208" y="1920240"/>
            <a:ext cx="2743200" cy="2697480"/>
          </a:xfrm>
          <a:prstGeom prst="rect">
            <a:avLst/>
          </a:prstGeom>
          <a:solidFill>
            <a:srgbClr val="1E1E32"/>
          </a:solidFill>
          <a:ln w="10160">
            <a:solidFill>
              <a:srgbClr val="252545"/>
            </a:solidFill>
            <a:prstDash val="solid"/>
          </a:ln>
        </p:spPr>
        <p:txBody>
          <a:bodyPr/>
          <a:p/>
        </p:txBody>
      </p:sp>
      <p:sp>
        <p:nvSpPr>
          <p:cNvPr id="16" name="Text 14"/>
          <p:cNvSpPr/>
          <p:nvPr/>
        </p:nvSpPr>
        <p:spPr>
          <a:xfrm>
            <a:off x="6400800" y="2029968"/>
            <a:ext cx="2423160" cy="256032"/>
          </a:xfrm>
          <a:prstGeom prst="rect">
            <a:avLst/>
          </a:prstGeom>
          <a:noFill/>
          <a:ln/>
        </p:spPr>
        <p:txBody>
          <a:bodyPr wrap="square" rtlCol="0" anchor="ctr"/>
          <a:lstStyle/>
          <a:p>
            <a:pPr marL="0" indent="0">
              <a:buNone/>
            </a:pPr>
            <a:r>
              <a:rPr lang="en-US" sz="900" b="1" kern="0" spc="400" dirty="0">
                <a:solidFill>
                  <a:srgbClr val="8A8AA8"/>
                </a:solidFill>
                <a:latin typeface="Trebuchet MS" pitchFamily="34" charset="0"/>
                <a:ea typeface="Trebuchet MS" pitchFamily="34" charset="-122"/>
                <a:cs typeface="Trebuchet MS" pitchFamily="34" charset="-120"/>
              </a:rPr>
              <a:t>PATH  03</a:t>
            </a:r>
            <a:endParaRPr lang="en-US" sz="900" dirty="0"/>
          </a:p>
        </p:txBody>
      </p:sp>
      <p:sp>
        <p:nvSpPr>
          <p:cNvPr id="17" name="Text 15"/>
          <p:cNvSpPr/>
          <p:nvPr/>
        </p:nvSpPr>
        <p:spPr>
          <a:xfrm>
            <a:off x="6400800" y="2322576"/>
            <a:ext cx="2423160" cy="402336"/>
          </a:xfrm>
          <a:prstGeom prst="rect">
            <a:avLst/>
          </a:prstGeom>
          <a:noFill/>
          <a:ln/>
        </p:spPr>
        <p:txBody>
          <a:bodyPr wrap="square"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Done for you</a:t>
            </a:r>
            <a:endParaRPr lang="en-US" sz="1600" dirty="0"/>
          </a:p>
        </p:txBody>
      </p:sp>
      <p:sp>
        <p:nvSpPr>
          <p:cNvPr id="18" name="Shape 16"/>
          <p:cNvSpPr/>
          <p:nvPr/>
        </p:nvSpPr>
        <p:spPr>
          <a:xfrm>
            <a:off x="6400800" y="2761488"/>
            <a:ext cx="2423160" cy="0"/>
          </a:xfrm>
          <a:prstGeom prst="line">
            <a:avLst/>
          </a:prstGeom>
          <a:noFill/>
          <a:ln w="10160">
            <a:solidFill>
              <a:srgbClr val="282845"/>
            </a:solidFill>
            <a:prstDash val="solid"/>
          </a:ln>
        </p:spPr>
        <p:txBody>
          <a:bodyPr/>
          <a:p/>
        </p:txBody>
      </p:sp>
      <p:sp>
        <p:nvSpPr>
          <p:cNvPr id="19" name="Text 17"/>
          <p:cNvSpPr/>
          <p:nvPr/>
        </p:nvSpPr>
        <p:spPr>
          <a:xfrm>
            <a:off x="6400800" y="2852928"/>
            <a:ext cx="2423160" cy="1572768"/>
          </a:xfrm>
          <a:prstGeom prst="rect">
            <a:avLst/>
          </a:prstGeom>
          <a:noFill/>
          <a:ln/>
        </p:spPr>
        <p:txBody>
          <a:bodyPr wrap="square" rtlCol="0" anchor="ctr"/>
          <a:lstStyle/>
          <a:p>
            <a:pPr marL="0" indent="0">
              <a:buNone/>
            </a:pPr>
            <a:r>
              <a:rPr lang="en-US" sz="1100" dirty="0">
                <a:solidFill>
                  <a:srgbClr val="8A8AA8"/>
                </a:solidFill>
                <a:latin typeface="Calibri" pitchFamily="34" charset="0"/>
                <a:ea typeface="Calibri" pitchFamily="34" charset="-122"/>
                <a:cs typeface="Calibri" pitchFamily="34" charset="-120"/>
              </a:rPr>
              <a:t>AJBuilds AI builds the automation for your business, done for you. You own everything we deliver.</a:t>
            </a:r>
            <a:endParaRPr lang="en-US" sz="1100" dirty="0"/>
          </a:p>
        </p:txBody>
      </p:sp>
      <p:sp>
        <p:nvSpPr>
          <p:cNvPr id="20" name="Shape 18"/>
          <p:cNvSpPr/>
          <p:nvPr/>
        </p:nvSpPr>
        <p:spPr>
          <a:xfrm>
            <a:off x="0" y="4754880"/>
            <a:ext cx="9144000" cy="388620"/>
          </a:xfrm>
          <a:prstGeom prst="rect">
            <a:avLst/>
          </a:prstGeom>
          <a:solidFill>
            <a:srgbClr val="0A0A12"/>
          </a:solidFill>
          <a:ln w="12700">
            <a:solidFill>
              <a:srgbClr val="0A0A12"/>
            </a:solidFill>
            <a:prstDash val="solid"/>
          </a:ln>
        </p:spPr>
        <p:txBody>
          <a:bodyPr/>
          <a:p/>
        </p:txBody>
      </p:sp>
      <p:sp>
        <p:nvSpPr>
          <p:cNvPr id="21" name="Text 19"/>
          <p:cNvSpPr/>
          <p:nvPr/>
        </p:nvSpPr>
        <p:spPr>
          <a:xfrm>
            <a:off x="274320" y="4791456"/>
            <a:ext cx="8595360" cy="274320"/>
          </a:xfrm>
          <a:prstGeom prst="rect">
            <a:avLst/>
          </a:prstGeom>
          <a:noFill/>
          <a:ln/>
        </p:spPr>
        <p:txBody>
          <a:bodyPr wrap="square" rtlCol="0" anchor="ctr"/>
          <a:lstStyle/>
          <a:p>
            <a:pPr marL="0" indent="0" algn="ctr">
              <a:buNone/>
            </a:pPr>
            <a:r>
              <a:rPr lang="en-US" sz="1100" dirty="0">
                <a:solidFill>
                  <a:srgbClr val="8A8AA8"/>
                </a:solidFill>
                <a:latin typeface="Calibri" pitchFamily="34" charset="0"/>
                <a:ea typeface="Calibri" pitchFamily="34" charset="-122"/>
                <a:cs typeface="Calibri" pitchFamily="34" charset="-120"/>
              </a:rPr>
              <a:t>Enrol now:   ajbuildai.com/accelerator   ·   Code TAAB100 at checkout</a:t>
            </a:r>
            <a:endParaRPr lang="en-US" sz="11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10"/>
        </a:solidFill>
        <a:effectLst/>
      </p:bgPr>
    </p:bg>
    <p:spTree>
      <p:nvGrpSpPr>
        <p:cNvPr id="1" name=""/>
        <p:cNvGrpSpPr/>
        <p:nvPr/>
      </p:nvGrpSpPr>
      <p:grpSpPr/>
      <p:sp>
        <p:nvSpPr>
          <p:cNvPr id="2" name="Rectangle 1"/>
          <p:cNvSpPr/>
          <p:nvPr/>
        </p:nvSpPr>
        <p:spPr>
          <a:xfrm>
            <a:off x="822960" y="502920"/>
            <a:ext cx="7498079" cy="54864"/>
          </a:xfrm>
          <a:prstGeom prst="rect">
            <a:avLst/>
          </a:prstGeom>
          <a:solidFill>
            <a:srgbClr val="C8F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85800"/>
            <a:ext cx="7498079" cy="365760"/>
          </a:xfrm>
          <a:prstGeom prst="rect">
            <a:avLst/>
          </a:prstGeom>
          <a:noFill/>
        </p:spPr>
        <p:txBody>
          <a:bodyPr wrap="square">
            <a:spAutoFit/>
          </a:bodyPr>
          <a:lstStyle/>
          <a:p>
            <a:pPr algn="ctr"/>
            <a:r>
              <a:rPr sz="1300" b="1" i="0">
                <a:solidFill>
                  <a:srgbClr val="C8F064"/>
                </a:solidFill>
              </a:rPr>
              <a:t>YOUR NEXT STEP</a:t>
            </a:r>
          </a:p>
        </p:txBody>
      </p:sp>
      <p:sp>
        <p:nvSpPr>
          <p:cNvPr id="4" name="TextBox 3"/>
          <p:cNvSpPr txBox="1"/>
          <p:nvPr/>
        </p:nvSpPr>
        <p:spPr>
          <a:xfrm>
            <a:off x="822960" y="1051560"/>
            <a:ext cx="7498079" cy="914400"/>
          </a:xfrm>
          <a:prstGeom prst="rect">
            <a:avLst/>
          </a:prstGeom>
          <a:noFill/>
        </p:spPr>
        <p:txBody>
          <a:bodyPr wrap="square">
            <a:spAutoFit/>
          </a:bodyPr>
          <a:lstStyle/>
          <a:p>
            <a:pPr algn="ctr"/>
            <a:r>
              <a:rPr sz="4000" b="1" i="0">
                <a:solidFill>
                  <a:srgbClr val="F0EDE8"/>
                </a:solidFill>
              </a:rPr>
              <a:t>The AI Automation Accelerator</a:t>
            </a:r>
          </a:p>
        </p:txBody>
      </p:sp>
      <p:sp>
        <p:nvSpPr>
          <p:cNvPr id="5" name="TextBox 4"/>
          <p:cNvSpPr txBox="1"/>
          <p:nvPr/>
        </p:nvSpPr>
        <p:spPr>
          <a:xfrm>
            <a:off x="822960" y="1965960"/>
            <a:ext cx="7498079" cy="640080"/>
          </a:xfrm>
          <a:prstGeom prst="rect">
            <a:avLst/>
          </a:prstGeom>
          <a:noFill/>
        </p:spPr>
        <p:txBody>
          <a:bodyPr wrap="square">
            <a:spAutoFit/>
          </a:bodyPr>
          <a:lstStyle/>
          <a:p>
            <a:pPr algn="ctr"/>
            <a:r>
              <a:rPr sz="1800" b="0" i="0">
                <a:solidFill>
                  <a:srgbClr val="9A9690"/>
                </a:solidFill>
              </a:rPr>
              <a:t>Build 9 real automations in 8 weeks - and the playbook to charge for them.</a:t>
            </a:r>
          </a:p>
        </p:txBody>
      </p:sp>
      <p:sp>
        <p:nvSpPr>
          <p:cNvPr id="6" name="TextBox 5"/>
          <p:cNvSpPr txBox="1"/>
          <p:nvPr/>
        </p:nvSpPr>
        <p:spPr>
          <a:xfrm>
            <a:off x="822960" y="2697480"/>
            <a:ext cx="7498079" cy="640080"/>
          </a:xfrm>
          <a:prstGeom prst="rect">
            <a:avLst/>
          </a:prstGeom>
          <a:noFill/>
        </p:spPr>
        <p:txBody>
          <a:bodyPr wrap="square">
            <a:spAutoFit/>
          </a:bodyPr>
          <a:lstStyle/>
          <a:p>
            <a:pPr algn="ctr"/>
            <a:r>
              <a:rPr sz="2600" b="1" i="0">
                <a:solidFill>
                  <a:srgbClr val="C8F064"/>
                </a:solidFill>
              </a:rPr>
              <a:t>₦100,000 today  ·  normally ₦120,000  ·  or ₦64,000 × 2</a:t>
            </a:r>
          </a:p>
        </p:txBody>
      </p:sp>
      <p:sp>
        <p:nvSpPr>
          <p:cNvPr id="7" name="TextBox 6"/>
          <p:cNvSpPr txBox="1"/>
          <p:nvPr/>
        </p:nvSpPr>
        <p:spPr>
          <a:xfrm>
            <a:off x="1920240" y="3429000"/>
            <a:ext cx="5303519" cy="1737360"/>
          </a:xfrm>
          <a:prstGeom prst="rect">
            <a:avLst/>
          </a:prstGeom>
          <a:noFill/>
        </p:spPr>
        <p:txBody>
          <a:bodyPr wrap="square">
            <a:spAutoFit/>
          </a:bodyPr>
          <a:lstStyle/>
          <a:p>
            <a:pPr algn="l">
              <a:spcAft>
                <a:spcPts val="800"/>
              </a:spcAft>
            </a:pPr>
            <a:r>
              <a:rPr sz="1500" b="1">
                <a:solidFill>
                  <a:srgbClr val="C8F064"/>
                </a:solidFill>
              </a:rPr>
              <a:t>→  </a:t>
            </a:r>
            <a:r>
              <a:rPr sz="1500" b="0">
                <a:solidFill>
                  <a:srgbClr val="F0EDE8"/>
                </a:solidFill>
              </a:rPr>
              <a:t>9 modules · 9 production workflows, built end to end</a:t>
            </a:r>
          </a:p>
          <a:p>
            <a:pPr algn="l">
              <a:spcAft>
                <a:spcPts val="800"/>
              </a:spcAft>
            </a:pPr>
            <a:r>
              <a:rPr sz="1500" b="1">
                <a:solidFill>
                  <a:srgbClr val="C8F064"/>
                </a:solidFill>
              </a:rPr>
              <a:t>→  </a:t>
            </a:r>
            <a:r>
              <a:rPr sz="1500" b="0">
                <a:solidFill>
                  <a:srgbClr val="F0EDE8"/>
                </a:solidFill>
              </a:rPr>
              <a:t>Weekly live Build &amp; Debug clinics + daily Telegram support</a:t>
            </a:r>
          </a:p>
          <a:p>
            <a:pPr algn="l">
              <a:spcAft>
                <a:spcPts val="800"/>
              </a:spcAft>
            </a:pPr>
            <a:r>
              <a:rPr sz="1500" b="1">
                <a:solidFill>
                  <a:srgbClr val="C8F064"/>
                </a:solidFill>
              </a:rPr>
              <a:t>→  </a:t>
            </a:r>
            <a:r>
              <a:rPr sz="1500" b="0">
                <a:solidFill>
                  <a:srgbClr val="F0EDE8"/>
                </a:solidFill>
              </a:rPr>
              <a:t>Done-for-you friction kit + the Agency Toolkit</a:t>
            </a:r>
          </a:p>
          <a:p>
            <a:pPr algn="l">
              <a:spcAft>
                <a:spcPts val="800"/>
              </a:spcAft>
            </a:pPr>
            <a:r>
              <a:rPr sz="1500" b="1">
                <a:solidFill>
                  <a:srgbClr val="C8F064"/>
                </a:solidFill>
              </a:rPr>
              <a:t>→  </a:t>
            </a:r>
            <a:r>
              <a:rPr sz="1500" b="0">
                <a:solidFill>
                  <a:srgbClr val="F0EDE8"/>
                </a:solidFill>
              </a:rPr>
              <a:t>Lifetime access · completion guarantee · verifiable certificate</a:t>
            </a:r>
          </a:p>
        </p:txBody>
      </p:sp>
      <p:sp>
        <p:nvSpPr>
          <p:cNvPr id="8" name="Rounded Rectangle 7"/>
          <p:cNvSpPr/>
          <p:nvPr/>
        </p:nvSpPr>
        <p:spPr>
          <a:xfrm>
            <a:off x="1645919" y="5257800"/>
            <a:ext cx="5852160" cy="777240"/>
          </a:xfrm>
          <a:prstGeom prst="roundRect">
            <a:avLst/>
          </a:prstGeom>
          <a:solidFill>
            <a:srgbClr val="C8F0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A0A10"/>
                </a:solidFill>
              </a:rPr>
              <a:t>Enrol  →  ajbuildai.com/accelerator</a:t>
            </a:r>
          </a:p>
        </p:txBody>
      </p:sp>
      <p:sp>
        <p:nvSpPr>
          <p:cNvPr id="9" name="TextBox 8"/>
          <p:cNvSpPr txBox="1"/>
          <p:nvPr/>
        </p:nvSpPr>
        <p:spPr>
          <a:xfrm>
            <a:off x="822960" y="6172200"/>
            <a:ext cx="7498079" cy="365760"/>
          </a:xfrm>
          <a:prstGeom prst="rect">
            <a:avLst/>
          </a:prstGeom>
          <a:noFill/>
        </p:spPr>
        <p:txBody>
          <a:bodyPr wrap="square">
            <a:spAutoFit/>
          </a:bodyPr>
          <a:lstStyle/>
          <a:p>
            <a:pPr algn="ctr"/>
            <a:r>
              <a:rPr sz="1300" b="0" i="0">
                <a:solidFill>
                  <a:srgbClr val="9A9690"/>
                </a:solidFill>
              </a:rPr>
              <a:t>Code TAAB100 at checkout for the attendee rate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502920"/>
            <a:ext cx="7498079" cy="54864"/>
          </a:xfrm>
          <a:prstGeom prst="rect">
            <a:avLst/>
          </a:prstGeom>
          <a:solidFill>
            <a:srgbClr val="C8F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85800"/>
            <a:ext cx="7498079" cy="365760"/>
          </a:xfrm>
          <a:prstGeom prst="rect">
            <a:avLst/>
          </a:prstGeom>
          <a:noFill/>
        </p:spPr>
        <p:txBody>
          <a:bodyPr wrap="square">
            <a:spAutoFit/>
          </a:bodyPr>
          <a:lstStyle/>
          <a:p>
            <a:pPr algn="ctr"/>
            <a:r>
              <a:rPr sz="1300" b="1" i="0">
                <a:solidFill>
                  <a:srgbClr val="C8F064"/>
                </a:solidFill>
              </a:rPr>
              <a:t>OPEN Q&amp;A</a:t>
            </a:r>
          </a:p>
        </p:txBody>
      </p:sp>
      <p:sp>
        <p:nvSpPr>
          <p:cNvPr id="4" name="TextBox 3"/>
          <p:cNvSpPr txBox="1"/>
          <p:nvPr/>
        </p:nvSpPr>
        <p:spPr>
          <a:xfrm>
            <a:off x="822960" y="1051560"/>
            <a:ext cx="7498079" cy="914400"/>
          </a:xfrm>
          <a:prstGeom prst="rect">
            <a:avLst/>
          </a:prstGeom>
          <a:noFill/>
        </p:spPr>
        <p:txBody>
          <a:bodyPr wrap="square">
            <a:spAutoFit/>
          </a:bodyPr>
          <a:lstStyle/>
          <a:p>
            <a:pPr algn="ctr"/>
            <a:r>
              <a:rPr sz="4000" b="1" i="0">
                <a:solidFill>
                  <a:srgbClr val="F0EDE8"/>
                </a:solidFill>
              </a:rPr>
              <a:t>Ask me anything.</a:t>
            </a:r>
          </a:p>
        </p:txBody>
      </p:sp>
      <p:sp>
        <p:nvSpPr>
          <p:cNvPr id="5" name="TextBox 4"/>
          <p:cNvSpPr txBox="1"/>
          <p:nvPr/>
        </p:nvSpPr>
        <p:spPr>
          <a:xfrm>
            <a:off x="822960" y="1965960"/>
            <a:ext cx="7498079" cy="640080"/>
          </a:xfrm>
          <a:prstGeom prst="rect">
            <a:avLst/>
          </a:prstGeom>
          <a:noFill/>
        </p:spPr>
        <p:txBody>
          <a:bodyPr wrap="square">
            <a:spAutoFit/>
          </a:bodyPr>
          <a:lstStyle/>
          <a:p>
            <a:pPr algn="ctr"/>
            <a:r>
              <a:rPr sz="1800" b="0" i="0">
                <a:solidFill>
                  <a:srgbClr val="9A9690"/>
                </a:solidFill>
              </a:rPr>
              <a:t>Drop your questions in the chat - I'll stay until they're answered.</a:t>
            </a:r>
          </a:p>
        </p:txBody>
      </p:sp>
      <p:sp>
        <p:nvSpPr>
          <p:cNvPr id="6" name="TextBox 5"/>
          <p:cNvSpPr txBox="1"/>
          <p:nvPr/>
        </p:nvSpPr>
        <p:spPr>
          <a:xfrm>
            <a:off x="822960" y="2697480"/>
            <a:ext cx="7498079" cy="640080"/>
          </a:xfrm>
          <a:prstGeom prst="rect">
            <a:avLst/>
          </a:prstGeom>
          <a:noFill/>
        </p:spPr>
        <p:txBody>
          <a:bodyPr wrap="square">
            <a:spAutoFit/>
          </a:bodyPr>
          <a:lstStyle/>
          <a:p>
            <a:pPr algn="ctr"/>
            <a:r>
              <a:rPr sz="2600" b="1" i="0">
                <a:solidFill>
                  <a:srgbClr val="C8F064"/>
                </a:solidFill>
              </a:rPr>
              <a:t>₦100,000 today  ·  normally ₦120,000  ·  or ₦64,000 × 2</a:t>
            </a:r>
          </a:p>
        </p:txBody>
      </p:sp>
      <p:sp>
        <p:nvSpPr>
          <p:cNvPr id="8" name="Rounded Rectangle 7"/>
          <p:cNvSpPr/>
          <p:nvPr/>
        </p:nvSpPr>
        <p:spPr>
          <a:xfrm>
            <a:off x="1645919" y="5257800"/>
            <a:ext cx="5852160" cy="777240"/>
          </a:xfrm>
          <a:prstGeom prst="roundRect">
            <a:avLst/>
          </a:prstGeom>
          <a:solidFill>
            <a:srgbClr val="C8F06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0A0A10"/>
                </a:solidFill>
              </a:rPr>
              <a:t>Enrol  →  ajbuildai.com/accelerator</a:t>
            </a:r>
          </a:p>
        </p:txBody>
      </p:sp>
      <p:sp>
        <p:nvSpPr>
          <p:cNvPr id="9" name="TextBox 8"/>
          <p:cNvSpPr txBox="1"/>
          <p:nvPr/>
        </p:nvSpPr>
        <p:spPr>
          <a:xfrm>
            <a:off x="822960" y="6172200"/>
            <a:ext cx="7498079" cy="365760"/>
          </a:xfrm>
          <a:prstGeom prst="rect">
            <a:avLst/>
          </a:prstGeom>
          <a:noFill/>
        </p:spPr>
        <p:txBody>
          <a:bodyPr wrap="square">
            <a:spAutoFit/>
          </a:bodyPr>
          <a:lstStyle/>
          <a:p>
            <a:pPr algn="ctr"/>
            <a:r>
              <a:rPr sz="1300" b="0" i="0">
                <a:solidFill>
                  <a:srgbClr val="9A9690"/>
                </a:solidFill>
              </a:rPr>
              <a:t>Code TAAB100 at checkout for the attendee rate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1027</Words>
  <Application>Microsoft Office PowerPoint</Application>
  <PresentationFormat>On-screen Show (16:9)</PresentationFormat>
  <Paragraphs>201</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Automation Bootcamp — TAAB</dc:title>
  <dc:subject>PptxGenJS Presentation</dc:subject>
  <dc:creator>PptxGenJS</dc:creator>
  <cp:lastModifiedBy>THOMPSON ONOKPEGU</cp:lastModifiedBy>
  <cp:revision>2</cp:revision>
  <dcterms:created xsi:type="dcterms:W3CDTF">2026-05-23T16:35:56Z</dcterms:created>
  <dcterms:modified xsi:type="dcterms:W3CDTF">2026-06-26T18:37:34Z</dcterms:modified>
</cp:coreProperties>
</file>